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c7c8e43-3cab-dd50-3920-960073e4a181}">
          <p14:sldIdLst>
            <p14:sldId id="256"/>
            <p14:sldId id="257"/>
          </p14:sldIdLst>
        </p14:section>
        <p14:section name="The platform" id="{afbe112f-95ef-9071-b9c2-9d79470e883e}">
          <p14:sldIdLst>
            <p14:sldId id="258"/>
            <p14:sldId id="259"/>
            <p14:sldId id="260"/>
            <p14:sldId id="261"/>
            <p14:sldId id="262"/>
            <p14:sldId id="263"/>
          </p14:sldIdLst>
        </p14:section>
        <p14:section name="Trust and technology" id="{99011fdc-3650-c21a-e974-ddfbe05c1345}">
          <p14:sldIdLst>
            <p14:sldId id="264"/>
            <p14:sldId id="265"/>
          </p14:sldIdLst>
        </p14:section>
        <p14:section name="Status and next steps" id="{8ae015e9-16e2-a398-6750-37f46b81f836}">
          <p14:sldIdLst>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D4D"/>
                </a:solidFill>
                <a:latin typeface="+mn-lt"/>
              </a:defRPr>
            </a:pPr>
            <a:r>
              <a:rPr sz="1400" b="0" i="0" u="none" strike="noStrike">
                <a:solidFill>
                  <a:srgbClr val="0B1D4D"/>
                </a:solidFill>
                <a:latin typeface="+mn-lt"/>
              </a:rPr>
              <a:t>Semantic index coverage</a:t>
            </a:r>
          </a:p>
        </c:rich>
      </c:tx>
      <c:layout/>
      <c:overlay val="0"/>
    </c:title>
    <c:autoTitleDeleted val="0"/>
    <c:plotArea>
      <c:layout/>
      <c:doughnutChart>
        <c:varyColors val="1"/>
        <c:ser>
          <c:idx val="0"/>
          <c:order val="0"/>
          <c:tx>
            <c:strRef>
              <c:f>Sheet1!$B$1</c:f>
              <c:strCache>
                <c:ptCount val="1"/>
                <c:pt idx="0">
                  <c:v>Semantic index</c:v>
                </c:pt>
              </c:strCache>
            </c:strRef>
          </c:tx>
          <c:spPr>
            <a:solidFill>
              <a:schemeClr val="accent1"/>
            </a:solidFill>
            <a:ln w="9525" cap="flat">
              <a:solidFill>
                <a:srgbClr val="F9F9F9"/>
              </a:solidFill>
              <a:prstDash val="solid"/>
              <a:round/>
            </a:ln>
            <a:effectLst/>
          </c:spPr>
          <c:dPt>
            <c:idx val="0"/>
            <c:bubble3D val="0"/>
            <c:spPr>
              <a:solidFill>
                <a:srgbClr val="0F5132"/>
              </a:solidFill>
              <a:effectLst/>
            </c:spPr>
          </c:dPt>
          <c:dPt>
            <c:idx val="1"/>
            <c:bubble3D val="0"/>
            <c:spPr>
              <a:solidFill>
                <a:srgbClr val="EEF3F8"/>
              </a:solidFill>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With semantic vectors</c:v>
                </c:pt>
                <c:pt idx="1">
                  <c:v>Keyword only (being completed)</c:v>
                </c:pt>
              </c:strCache>
            </c:strRef>
          </c:cat>
          <c:val>
            <c:numRef>
              <c:f>Sheet1!$B$2:$B$3</c:f>
              <c:numCache>
                <c:ptCount val="2"/>
                <c:pt idx="0">
                  <c:v>1651</c:v>
                </c:pt>
                <c:pt idx="1">
                  <c:v>2595</c:v>
                </c:pt>
              </c:numCache>
            </c:numRef>
          </c:val>
        </c:ser>
        <c:firstSliceAng val="0"/>
        <c:holeSize val="58"/>
      </c:doughnutChart>
      <c:spPr>
        <a:noFill/>
        <a:ln>
          <a:noFill/>
        </a:ln>
        <a:effectLst/>
      </c:spPr>
    </c:plotArea>
    <c:legend>
      <c:legendPos val="b"/>
      <c:overlay val="0"/>
      <c:txPr>
        <a:bodyPr/>
        <a:lstStyle/>
        <a:p>
          <a:pPr>
            <a:defRPr sz="1200">
              <a:solidFill>
                <a:srgbClr val="1A223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D4D"/>
                </a:solidFill>
                <a:latin typeface="+mn-lt"/>
              </a:defRPr>
            </a:pPr>
            <a:r>
              <a:rPr sz="1400" b="0" i="0" u="none" strike="noStrike">
                <a:solidFill>
                  <a:srgbClr val="0B1D4D"/>
                </a:solidFill>
                <a:latin typeface="+mn-lt"/>
              </a:rPr>
              <a:t>Cases by status</a:t>
            </a:r>
          </a:p>
        </c:rich>
      </c:tx>
      <c:layout/>
      <c:overlay val="0"/>
    </c:title>
    <c:autoTitleDeleted val="0"/>
    <c:plotArea>
      <c:layout/>
      <c:barChart>
        <c:barDir val="bar"/>
        <c:grouping val="clustered"/>
        <c:varyColors val="0"/>
        <c:ser>
          <c:idx val="0"/>
          <c:order val="0"/>
          <c:tx>
            <c:strRef>
              <c:f>Sheet1!$B$1</c:f>
              <c:strCache>
                <c:ptCount val="1"/>
                <c:pt idx="0">
                  <c:v>Cases</c:v>
                </c:pt>
              </c:strCache>
            </c:strRef>
          </c:tx>
          <c:spPr>
            <a:solidFill>
              <a:srgbClr val="0F5132"/>
            </a:solidFill>
            <a:effectLst/>
          </c:spPr>
          <c:invertIfNegative val="0"/>
          <c:dLbls>
            <c:numFmt formatCode="#,##0" sourceLinked="0"/>
            <c:txPr>
              <a:bodyPr/>
              <a:lstStyle/>
              <a:p>
                <a:pPr>
                  <a:defRPr b="0" i="0" strike="noStrike" sz="1200" u="none">
                    <a:solidFill>
                      <a:srgbClr val="1A2238"/>
                    </a:solidFill>
                    <a:latin typeface="+mn-lt"/>
                  </a:defRPr>
                </a:pPr>
              </a:p>
            </c:txPr>
            <c:showLegendKey val="0"/>
            <c:showVal val="1"/>
            <c:showCatName val="0"/>
            <c:showSerName val="0"/>
            <c:showPercent val="0"/>
            <c:showBubbleSize val="0"/>
            <c:showLeaderLines val="0"/>
          </c:dLbls>
          <c:cat>
            <c:multiLvlStrRef>
              <c:f>Sheet1!$A$2:$A$4</c:f>
              <c:multiLvlStrCache>
                <c:ptCount val="3"/>
                <c:lvl>
                  <c:pt idx="0">
                    <c:v>Under Review</c:v>
                  </c:pt>
                  <c:pt idx="1">
                    <c:v>Approved FIRs</c:v>
                  </c:pt>
                  <c:pt idx="2">
                    <c:v>Pending Drafts</c:v>
                  </c:pt>
                </c:lvl>
              </c:multiLvlStrCache>
            </c:multiLvlStrRef>
          </c:cat>
          <c:val>
            <c:numRef>
              <c:f>Sheet1!$B$2:$B$4</c:f>
              <c:numCache>
                <c:formatCode>General</c:formatCode>
                <c:ptCount val="3"/>
                <c:pt idx="0">
                  <c:v>32</c:v>
                </c:pt>
                <c:pt idx="1">
                  <c:v>6</c:v>
                </c:pt>
                <c:pt idx="2">
                  <c:v>7</c:v>
                </c:pt>
              </c:numCache>
            </c:numRef>
          </c:val>
        </c:ser>
        <c:dLbls>
          <c:numFmt formatCode="#,##0" sourceLinked="0"/>
          <c:txPr>
            <a:bodyPr/>
            <a:lstStyle/>
            <a:p>
              <a:pPr>
                <a:defRPr b="0" i="0" strike="noStrike" sz="1200" u="none">
                  <a:solidFill>
                    <a:srgbClr val="1A2238"/>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A2238"/>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 VisionAI is the department's unified FIR platform. It takes an FIR from intake through AI-assisted analysis to investigation intelligence, always under officer control and within each officer's jurisdiction.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platform exists: FIRs arrive as scans and handwriting in three languages, the law and earlier cases live in separate places, and every record must stay within the officer's jurisdiction.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capabilities, each covered on the following slides. All of them share one database and one set of jurisdiction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1 extracts the text, stage 2 is the officer's mandatory review and sign-off. Stages 3 to 6 run only after registration. Each stage shows its real status; a failed stage can be retried without repeating completed work, and an interrupted upload can be processed again without uploading the file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assistant combines keyword and semantic search and answers only from passages in the selected scope. If the documents do not contain the answer it says so. Section numbers that do not appear in the sources are flagged.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 Knowledge Base documents including the official BNS, BNSS, BSA and the Constitution. 4,246 passages are searchable by keyword today; 1,651 also have semantic vectors, and a daily job completes the rest within about three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Summaries are produced once from the same evidence in all three languages, keeping names, FIR numbers and section numbers exactly as written. 46 historical FIR records are summarised in every language; 23 records need OCR or review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Entity links and risk scores are investigative leads to verify, not findings. Generated case diaries and chargesheets stay drafts until an officer approves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is enforced by the server on every list, search, document, summary and answer, not by hiding buttons. 3,256 audit entries are recorded in a hash chain that reveals tampering.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React and Vite in the browser; a FastAPI backend that enforces authentication and jurisdiction; Supabase PostgreSQL with pgvector and a private evidence store. Gemini provides text and embeddings, Sarvam Document AI reads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figures from the production database on 26 October 2026, plus the automated test suite and the training videos.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term: the daily embedding job finishes the semantic index; 23 records need OCR or review before they can be summarised. Then: real voice intake (today a placeholder), a paid AI tier for daily limits, and a field pilot with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Offer a live demo: register an FIR, ask the assistant a legal question with citations, and show a Telugu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37160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
        <p:nvSpPr>
          <p:cNvPr id="3" name="Text 0"/>
          <p:cNvSpPr/>
          <p:nvPr>
            <p:ph idx="101" type="body" hasCustomPrompt="1"/>
          </p:nvPr>
        </p:nvSpPr>
        <p:spPr>
          <a:xfrm>
            <a:off x="731520" y="3383280"/>
            <a:ext cx="9601200" cy="1188720"/>
          </a:xfrm>
          <a:prstGeom prst="rect">
            <a:avLst/>
          </a:prstGeom>
          <a:noFill/>
          <a:ln/>
        </p:spPr>
        <p:txBody>
          <a:bodyPr wrap="square" rtlCol="0"/>
          <a:lstStyle>
            <a:lvl1pPr algn="l" indent="0" marL="0">
              <a:buNone/>
              <a:defRPr lang="en-US" sz="2200" dirty="0">
                <a:solidFill>
                  <a:schemeClr val="bg2"/>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FIR VisionAI  ·  u-FIR v2.0  ·  AP Prohibition and Excise Department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3.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371600"/>
          </a:xfrm>
          <a:prstGeom prst="rect">
            <a:avLst/>
          </a:prstGeom>
          <a:noFill/>
          <a:ln/>
        </p:spPr>
        <p:txBody>
          <a:bodyPr wrap="square" rtlCol="0" anchor="b"/>
          <a:lstStyle/>
          <a:p>
            <a:pPr algn="l" indent="0" marL="0">
              <a:buNone/>
            </a:pPr>
            <a:r>
              <a:rPr lang="en-US" sz="6000" b="1" dirty="0">
                <a:solidFill>
                  <a:schemeClr val="bg1"/>
                </a:solidFill>
              </a:rPr>
              <a:t>FIR VisionAI</a:t>
            </a:r>
            <a:endParaRPr lang="en-US" sz="6000" dirty="0"/>
          </a:p>
        </p:txBody>
      </p:sp>
      <p:sp>
        <p:nvSpPr>
          <p:cNvPr id="3" name="Text 0"/>
          <p:cNvSpPr/>
          <p:nvPr>
            <p:ph idx="101" type="body" hasCustomPrompt="1"/>
          </p:nvPr>
        </p:nvSpPr>
        <p:spPr>
          <a:xfrm>
            <a:off x="731520" y="3383280"/>
            <a:ext cx="9601200" cy="1188720"/>
          </a:xfrm>
          <a:prstGeom prst="rect">
            <a:avLst/>
          </a:prstGeom>
          <a:noFill/>
          <a:ln/>
        </p:spPr>
        <p:txBody>
          <a:bodyPr wrap="square" rtlCol="0" anchor="t"/>
          <a:lstStyle/>
          <a:p>
            <a:pPr algn="l" indent="0" marL="0">
              <a:buNone/>
            </a:pPr>
            <a:r>
              <a:rPr lang="en-US" sz="2200" dirty="0">
                <a:solidFill>
                  <a:schemeClr val="bg2"/>
                </a:solidFill>
              </a:rPr>
              <a:t>Unified FIR and AI-powered case intelligence for the Andhra Pradesh Prohibition &amp; Excise Department</a:t>
            </a:r>
            <a:endParaRPr lang="en-US" sz="2200" dirty="0"/>
          </a:p>
        </p:txBody>
      </p:sp>
      <p:sp>
        <p:nvSpPr>
          <p:cNvPr id="4" name="tagline"/>
          <p:cNvSpPr txBox="1"/>
          <p:nvPr/>
        </p:nvSpPr>
        <p:spPr>
          <a:xfrm>
            <a:off x="731520" y="4800600"/>
            <a:ext cx="9601200" cy="457200"/>
          </a:xfrm>
          <a:prstGeom prst="rect">
            <a:avLst/>
          </a:prstGeom>
          <a:noFill/>
          <a:ln/>
        </p:spPr>
        <p:txBody>
          <a:bodyPr wrap="square" lIns="0" tIns="0" rIns="0" bIns="0" rtlCol="0" anchor="t"/>
          <a:lstStyle/>
          <a:p>
            <a:pPr indent="0" marL="0">
              <a:buNone/>
            </a:pPr>
            <a:r>
              <a:rPr lang="en-US" sz="2000" i="1" dirty="0">
                <a:solidFill>
                  <a:schemeClr val="accent2"/>
                </a:solidFill>
              </a:rPr>
              <a:t>See the evidence. Connect the cases. Support better decisions.</a:t>
            </a:r>
            <a:endParaRPr lang="en-US" sz="2000" dirty="0"/>
          </a:p>
        </p:txBody>
      </p:sp>
      <p:sp>
        <p:nvSpPr>
          <p:cNvPr id="5" name="date"/>
          <p:cNvSpPr txBox="1"/>
          <p:nvPr/>
        </p:nvSpPr>
        <p:spPr>
          <a:xfrm>
            <a:off x="731520" y="6035040"/>
            <a:ext cx="5486400" cy="365760"/>
          </a:xfrm>
          <a:prstGeom prst="rect">
            <a:avLst/>
          </a:prstGeom>
          <a:noFill/>
          <a:ln/>
        </p:spPr>
        <p:txBody>
          <a:bodyPr wrap="square" lIns="0" tIns="0" rIns="0" bIns="0" rtlCol="0" anchor="t"/>
          <a:lstStyle/>
          <a:p>
            <a:pPr indent="0" marL="0">
              <a:buNone/>
            </a:pPr>
            <a:r>
              <a:rPr lang="en-US" sz="1400" dirty="0">
                <a:solidFill>
                  <a:schemeClr val="bg2"/>
                </a:solidFill>
              </a:rPr>
              <a:t>u-FIR v2.0  ·  October 2026</a:t>
            </a:r>
            <a:endParaRPr lang="en-US" sz="1400" dirty="0"/>
          </a:p>
        </p:txBody>
      </p:sp>
      <p:sp>
        <p:nvSpPr>
          <p:cNvPr id="6" name="brand circle"/>
          <p:cNvSpPr/>
          <p:nvPr/>
        </p:nvSpPr>
        <p:spPr>
          <a:xfrm>
            <a:off x="9966960" y="731520"/>
            <a:ext cx="1463040" cy="1463040"/>
          </a:xfrm>
          <a:prstGeom prst="ellipse">
            <a:avLst/>
          </a:prstGeom>
          <a:solidFill>
            <a:schemeClr val="accent1"/>
          </a:solidFill>
          <a:ln w="12700">
            <a:solidFill>
              <a:schemeClr val="accent1"/>
            </a:solidFill>
            <a:prstDash val="solid"/>
          </a:ln>
        </p:spPr>
      </p:sp>
      <p:pic>
        <p:nvPicPr>
          <p:cNvPr id="7" name="brand icon" descr="brand">    </p:cNvPr>
          <p:cNvPicPr>
            <a:picLocks noChangeAspect="1"/>
          </p:cNvPicPr>
          <p:nvPr/>
        </p:nvPicPr>
        <p:blipFill>
          <a:blip r:embed="rId1"/>
          <a:stretch>
            <a:fillRect/>
          </a:stretch>
        </p:blipFill>
        <p:spPr>
          <a:xfrm>
            <a:off x="10318090" y="1082650"/>
            <a:ext cx="760781" cy="76078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nchor="ctr"/>
          <a:lstStyle/>
          <a:p>
            <a:pPr algn="l" indent="0" marL="0">
              <a:buNone/>
            </a:pPr>
            <a:r>
              <a:rPr lang="en-US" sz="3200" b="1" dirty="0">
                <a:solidFill>
                  <a:schemeClr val="tx2"/>
                </a:solidFill>
              </a:rPr>
              <a:t>FIR records are hard to read, search and connect</a:t>
            </a:r>
            <a:endParaRPr lang="en-US" sz="3200" dirty="0"/>
          </a:p>
        </p:txBody>
      </p:sp>
      <p:sp>
        <p:nvSpPr>
          <p:cNvPr id="4" name="Scanned and handwritten FIRs card"/>
          <p:cNvSpPr/>
          <p:nvPr/>
        </p:nvSpPr>
        <p:spPr>
          <a:xfrm>
            <a:off x="548640" y="1600200"/>
            <a:ext cx="2606040" cy="3383280"/>
          </a:xfrm>
          <a:prstGeom prst="roundRect">
            <a:avLst>
              <a:gd name="adj" fmla="val 4211"/>
            </a:avLst>
          </a:prstGeom>
          <a:solidFill>
            <a:schemeClr val="bg2"/>
          </a:solidFill>
          <a:ln w="12700">
            <a:solidFill>
              <a:schemeClr val="bg2"/>
            </a:solidFill>
            <a:prstDash val="solid"/>
          </a:ln>
        </p:spPr>
      </p:sp>
      <p:sp>
        <p:nvSpPr>
          <p:cNvPr id="5" name="Scanned and handwritten FIRs circle"/>
          <p:cNvSpPr/>
          <p:nvPr/>
        </p:nvSpPr>
        <p:spPr>
          <a:xfrm>
            <a:off x="868680" y="1965960"/>
            <a:ext cx="868680" cy="868680"/>
          </a:xfrm>
          <a:prstGeom prst="ellipse">
            <a:avLst/>
          </a:prstGeom>
          <a:solidFill>
            <a:schemeClr val="accent5"/>
          </a:solidFill>
          <a:ln w="12700">
            <a:solidFill>
              <a:schemeClr val="accent5"/>
            </a:solidFill>
            <a:prstDash val="solid"/>
          </a:ln>
        </p:spPr>
      </p:sp>
      <p:pic>
        <p:nvPicPr>
          <p:cNvPr id="6" name="Scanned and handwritten FIRs icon" descr="Scanned and handwritten FIRs">    </p:cNvPr>
          <p:cNvPicPr>
            <a:picLocks noChangeAspect="1"/>
          </p:cNvPicPr>
          <p:nvPr/>
        </p:nvPicPr>
        <p:blipFill>
          <a:blip r:embed="rId1"/>
          <a:stretch>
            <a:fillRect/>
          </a:stretch>
        </p:blipFill>
        <p:spPr>
          <a:xfrm>
            <a:off x="1077163" y="2174443"/>
            <a:ext cx="451714" cy="451714"/>
          </a:xfrm>
          <a:prstGeom prst="rect">
            <a:avLst/>
          </a:prstGeom>
        </p:spPr>
      </p:pic>
      <p:sp>
        <p:nvSpPr>
          <p:cNvPr id="7" name="Scanned and handwritten FIRs title"/>
          <p:cNvSpPr txBox="1"/>
          <p:nvPr/>
        </p:nvSpPr>
        <p:spPr>
          <a:xfrm>
            <a:off x="868680" y="3063240"/>
            <a:ext cx="1965960" cy="822960"/>
          </a:xfrm>
          <a:prstGeom prst="rect">
            <a:avLst/>
          </a:prstGeom>
          <a:noFill/>
          <a:ln/>
        </p:spPr>
        <p:txBody>
          <a:bodyPr wrap="square" lIns="0" tIns="0" rIns="0" bIns="0" rtlCol="0" anchor="t"/>
          <a:lstStyle/>
          <a:p>
            <a:pPr indent="0" marL="0">
              <a:buNone/>
            </a:pPr>
            <a:r>
              <a:rPr lang="en-US" sz="1900" b="1" dirty="0">
                <a:solidFill>
                  <a:schemeClr val="tx2"/>
                </a:solidFill>
              </a:rPr>
              <a:t>Scanned and handwritten FIRs</a:t>
            </a:r>
            <a:endParaRPr lang="en-US" sz="1900" dirty="0"/>
          </a:p>
        </p:txBody>
      </p:sp>
      <p:sp>
        <p:nvSpPr>
          <p:cNvPr id="8" name="Scanned and handwritten FIRs text"/>
          <p:cNvSpPr txBox="1"/>
          <p:nvPr/>
        </p:nvSpPr>
        <p:spPr>
          <a:xfrm>
            <a:off x="868680" y="3931920"/>
            <a:ext cx="1965960" cy="960120"/>
          </a:xfrm>
          <a:prstGeom prst="rect">
            <a:avLst/>
          </a:prstGeom>
          <a:noFill/>
          <a:ln/>
        </p:spPr>
        <p:txBody>
          <a:bodyPr wrap="square" lIns="0" tIns="0" rIns="0" bIns="0" rtlCol="0" anchor="t"/>
          <a:lstStyle/>
          <a:p>
            <a:pPr indent="0" marL="0">
              <a:buNone/>
            </a:pPr>
            <a:r>
              <a:rPr lang="en-US" sz="1500" dirty="0">
                <a:solidFill>
                  <a:schemeClr val="tx1"/>
                </a:solidFill>
              </a:rPr>
              <a:t>The text is locked inside images, and reading it by hand is slow and error-prone.</a:t>
            </a:r>
            <a:endParaRPr lang="en-US" sz="1500" dirty="0"/>
          </a:p>
        </p:txBody>
      </p:sp>
      <p:sp>
        <p:nvSpPr>
          <p:cNvPr id="9" name="Three languages card"/>
          <p:cNvSpPr/>
          <p:nvPr/>
        </p:nvSpPr>
        <p:spPr>
          <a:xfrm>
            <a:off x="3364992" y="1600200"/>
            <a:ext cx="2606040" cy="3383280"/>
          </a:xfrm>
          <a:prstGeom prst="roundRect">
            <a:avLst>
              <a:gd name="adj" fmla="val 4211"/>
            </a:avLst>
          </a:prstGeom>
          <a:solidFill>
            <a:schemeClr val="bg2"/>
          </a:solidFill>
          <a:ln w="12700">
            <a:solidFill>
              <a:schemeClr val="bg2"/>
            </a:solidFill>
            <a:prstDash val="solid"/>
          </a:ln>
        </p:spPr>
      </p:sp>
      <p:sp>
        <p:nvSpPr>
          <p:cNvPr id="10" name="Three languages circle"/>
          <p:cNvSpPr/>
          <p:nvPr/>
        </p:nvSpPr>
        <p:spPr>
          <a:xfrm>
            <a:off x="3685032" y="1965960"/>
            <a:ext cx="868680" cy="868680"/>
          </a:xfrm>
          <a:prstGeom prst="ellipse">
            <a:avLst/>
          </a:prstGeom>
          <a:solidFill>
            <a:schemeClr val="accent5"/>
          </a:solidFill>
          <a:ln w="12700">
            <a:solidFill>
              <a:schemeClr val="accent5"/>
            </a:solidFill>
            <a:prstDash val="solid"/>
          </a:ln>
        </p:spPr>
      </p:sp>
      <p:pic>
        <p:nvPicPr>
          <p:cNvPr id="11" name="Three languages icon" descr="Three languages">    </p:cNvPr>
          <p:cNvPicPr>
            <a:picLocks noChangeAspect="1"/>
          </p:cNvPicPr>
          <p:nvPr/>
        </p:nvPicPr>
        <p:blipFill>
          <a:blip r:embed="rId2"/>
          <a:stretch>
            <a:fillRect/>
          </a:stretch>
        </p:blipFill>
        <p:spPr>
          <a:xfrm>
            <a:off x="3893515" y="2174443"/>
            <a:ext cx="451714" cy="451714"/>
          </a:xfrm>
          <a:prstGeom prst="rect">
            <a:avLst/>
          </a:prstGeom>
        </p:spPr>
      </p:pic>
      <p:sp>
        <p:nvSpPr>
          <p:cNvPr id="12" name="Three languages title"/>
          <p:cNvSpPr txBox="1"/>
          <p:nvPr/>
        </p:nvSpPr>
        <p:spPr>
          <a:xfrm>
            <a:off x="3685032" y="3063240"/>
            <a:ext cx="1965960" cy="822960"/>
          </a:xfrm>
          <a:prstGeom prst="rect">
            <a:avLst/>
          </a:prstGeom>
          <a:noFill/>
          <a:ln/>
        </p:spPr>
        <p:txBody>
          <a:bodyPr wrap="square" lIns="0" tIns="0" rIns="0" bIns="0" rtlCol="0" anchor="t"/>
          <a:lstStyle/>
          <a:p>
            <a:pPr indent="0" marL="0">
              <a:buNone/>
            </a:pPr>
            <a:r>
              <a:rPr lang="en-US" sz="1900" b="1" dirty="0">
                <a:solidFill>
                  <a:schemeClr val="tx2"/>
                </a:solidFill>
              </a:rPr>
              <a:t>Three languages</a:t>
            </a:r>
            <a:endParaRPr lang="en-US" sz="1900" dirty="0"/>
          </a:p>
        </p:txBody>
      </p:sp>
      <p:sp>
        <p:nvSpPr>
          <p:cNvPr id="13" name="Three languages text"/>
          <p:cNvSpPr txBox="1"/>
          <p:nvPr/>
        </p:nvSpPr>
        <p:spPr>
          <a:xfrm>
            <a:off x="3685032" y="3931920"/>
            <a:ext cx="1965960" cy="960120"/>
          </a:xfrm>
          <a:prstGeom prst="rect">
            <a:avLst/>
          </a:prstGeom>
          <a:noFill/>
          <a:ln/>
        </p:spPr>
        <p:txBody>
          <a:bodyPr wrap="square" lIns="0" tIns="0" rIns="0" bIns="0" rtlCol="0" anchor="t"/>
          <a:lstStyle/>
          <a:p>
            <a:pPr indent="0" marL="0">
              <a:buNone/>
            </a:pPr>
            <a:r>
              <a:rPr lang="en-US" sz="1500" dirty="0">
                <a:solidFill>
                  <a:schemeClr val="tx1"/>
                </a:solidFill>
              </a:rPr>
              <a:t>Records and questions come in English, Telugu and Hindi.</a:t>
            </a:r>
            <a:endParaRPr lang="en-US" sz="1500" dirty="0"/>
          </a:p>
        </p:txBody>
      </p:sp>
      <p:sp>
        <p:nvSpPr>
          <p:cNvPr id="14" name="Scattered sources card"/>
          <p:cNvSpPr/>
          <p:nvPr/>
        </p:nvSpPr>
        <p:spPr>
          <a:xfrm>
            <a:off x="6181344" y="1600200"/>
            <a:ext cx="2606040" cy="3383280"/>
          </a:xfrm>
          <a:prstGeom prst="roundRect">
            <a:avLst>
              <a:gd name="adj" fmla="val 4211"/>
            </a:avLst>
          </a:prstGeom>
          <a:solidFill>
            <a:schemeClr val="bg2"/>
          </a:solidFill>
          <a:ln w="12700">
            <a:solidFill>
              <a:schemeClr val="bg2"/>
            </a:solidFill>
            <a:prstDash val="solid"/>
          </a:ln>
        </p:spPr>
      </p:sp>
      <p:sp>
        <p:nvSpPr>
          <p:cNvPr id="15" name="Scattered sources circle"/>
          <p:cNvSpPr/>
          <p:nvPr/>
        </p:nvSpPr>
        <p:spPr>
          <a:xfrm>
            <a:off x="6501384" y="1965960"/>
            <a:ext cx="868680" cy="868680"/>
          </a:xfrm>
          <a:prstGeom prst="ellipse">
            <a:avLst/>
          </a:prstGeom>
          <a:solidFill>
            <a:schemeClr val="accent5"/>
          </a:solidFill>
          <a:ln w="12700">
            <a:solidFill>
              <a:schemeClr val="accent5"/>
            </a:solidFill>
            <a:prstDash val="solid"/>
          </a:ln>
        </p:spPr>
      </p:sp>
      <p:pic>
        <p:nvPicPr>
          <p:cNvPr id="16" name="Scattered sources icon" descr="Scattered sources">    </p:cNvPr>
          <p:cNvPicPr>
            <a:picLocks noChangeAspect="1"/>
          </p:cNvPicPr>
          <p:nvPr/>
        </p:nvPicPr>
        <p:blipFill>
          <a:blip r:embed="rId3"/>
          <a:stretch>
            <a:fillRect/>
          </a:stretch>
        </p:blipFill>
        <p:spPr>
          <a:xfrm>
            <a:off x="6709867" y="2174443"/>
            <a:ext cx="451714" cy="451714"/>
          </a:xfrm>
          <a:prstGeom prst="rect">
            <a:avLst/>
          </a:prstGeom>
        </p:spPr>
      </p:pic>
      <p:sp>
        <p:nvSpPr>
          <p:cNvPr id="17" name="Scattered sources title"/>
          <p:cNvSpPr txBox="1"/>
          <p:nvPr/>
        </p:nvSpPr>
        <p:spPr>
          <a:xfrm>
            <a:off x="6501384" y="3063240"/>
            <a:ext cx="1965960" cy="822960"/>
          </a:xfrm>
          <a:prstGeom prst="rect">
            <a:avLst/>
          </a:prstGeom>
          <a:noFill/>
          <a:ln/>
        </p:spPr>
        <p:txBody>
          <a:bodyPr wrap="square" lIns="0" tIns="0" rIns="0" bIns="0" rtlCol="0" anchor="t"/>
          <a:lstStyle/>
          <a:p>
            <a:pPr indent="0" marL="0">
              <a:buNone/>
            </a:pPr>
            <a:r>
              <a:rPr lang="en-US" sz="1900" b="1" dirty="0">
                <a:solidFill>
                  <a:schemeClr val="tx2"/>
                </a:solidFill>
              </a:rPr>
              <a:t>Scattered sources</a:t>
            </a:r>
            <a:endParaRPr lang="en-US" sz="1900" dirty="0"/>
          </a:p>
        </p:txBody>
      </p:sp>
      <p:sp>
        <p:nvSpPr>
          <p:cNvPr id="18" name="Scattered sources text"/>
          <p:cNvSpPr txBox="1"/>
          <p:nvPr/>
        </p:nvSpPr>
        <p:spPr>
          <a:xfrm>
            <a:off x="6501384" y="3931920"/>
            <a:ext cx="1965960" cy="960120"/>
          </a:xfrm>
          <a:prstGeom prst="rect">
            <a:avLst/>
          </a:prstGeom>
          <a:noFill/>
          <a:ln/>
        </p:spPr>
        <p:txBody>
          <a:bodyPr wrap="square" lIns="0" tIns="0" rIns="0" bIns="0" rtlCol="0" anchor="t"/>
          <a:lstStyle/>
          <a:p>
            <a:pPr indent="0" marL="0">
              <a:buNone/>
            </a:pPr>
            <a:r>
              <a:rPr lang="en-US" sz="1500" dirty="0">
                <a:solidFill>
                  <a:schemeClr val="tx1"/>
                </a:solidFill>
              </a:rPr>
              <a:t>Acts, circulars, seizure reports and earlier FIRs sit in separate places.</a:t>
            </a:r>
            <a:endParaRPr lang="en-US" sz="1500" dirty="0"/>
          </a:p>
        </p:txBody>
      </p:sp>
      <p:sp>
        <p:nvSpPr>
          <p:cNvPr id="19" name="Strict jurisdiction card"/>
          <p:cNvSpPr/>
          <p:nvPr/>
        </p:nvSpPr>
        <p:spPr>
          <a:xfrm>
            <a:off x="8997696" y="1600200"/>
            <a:ext cx="2606040" cy="3383280"/>
          </a:xfrm>
          <a:prstGeom prst="roundRect">
            <a:avLst>
              <a:gd name="adj" fmla="val 4211"/>
            </a:avLst>
          </a:prstGeom>
          <a:solidFill>
            <a:schemeClr val="bg2"/>
          </a:solidFill>
          <a:ln w="12700">
            <a:solidFill>
              <a:schemeClr val="bg2"/>
            </a:solidFill>
            <a:prstDash val="solid"/>
          </a:ln>
        </p:spPr>
      </p:sp>
      <p:sp>
        <p:nvSpPr>
          <p:cNvPr id="20" name="Strict jurisdiction circle"/>
          <p:cNvSpPr/>
          <p:nvPr/>
        </p:nvSpPr>
        <p:spPr>
          <a:xfrm>
            <a:off x="9317736" y="1965960"/>
            <a:ext cx="868680" cy="868680"/>
          </a:xfrm>
          <a:prstGeom prst="ellipse">
            <a:avLst/>
          </a:prstGeom>
          <a:solidFill>
            <a:schemeClr val="accent5"/>
          </a:solidFill>
          <a:ln w="12700">
            <a:solidFill>
              <a:schemeClr val="accent5"/>
            </a:solidFill>
            <a:prstDash val="solid"/>
          </a:ln>
        </p:spPr>
      </p:sp>
      <p:pic>
        <p:nvPicPr>
          <p:cNvPr id="21" name="Strict jurisdiction icon" descr="Strict jurisdiction">    </p:cNvPr>
          <p:cNvPicPr>
            <a:picLocks noChangeAspect="1"/>
          </p:cNvPicPr>
          <p:nvPr/>
        </p:nvPicPr>
        <p:blipFill>
          <a:blip r:embed="rId4"/>
          <a:stretch>
            <a:fillRect/>
          </a:stretch>
        </p:blipFill>
        <p:spPr>
          <a:xfrm>
            <a:off x="9526219" y="2174443"/>
            <a:ext cx="451714" cy="451714"/>
          </a:xfrm>
          <a:prstGeom prst="rect">
            <a:avLst/>
          </a:prstGeom>
        </p:spPr>
      </p:pic>
      <p:sp>
        <p:nvSpPr>
          <p:cNvPr id="22" name="Strict jurisdiction title"/>
          <p:cNvSpPr txBox="1"/>
          <p:nvPr/>
        </p:nvSpPr>
        <p:spPr>
          <a:xfrm>
            <a:off x="9317736" y="3063240"/>
            <a:ext cx="1965960" cy="822960"/>
          </a:xfrm>
          <a:prstGeom prst="rect">
            <a:avLst/>
          </a:prstGeom>
          <a:noFill/>
          <a:ln/>
        </p:spPr>
        <p:txBody>
          <a:bodyPr wrap="square" lIns="0" tIns="0" rIns="0" bIns="0" rtlCol="0" anchor="t"/>
          <a:lstStyle/>
          <a:p>
            <a:pPr indent="0" marL="0">
              <a:buNone/>
            </a:pPr>
            <a:r>
              <a:rPr lang="en-US" sz="1900" b="1" dirty="0">
                <a:solidFill>
                  <a:schemeClr val="tx2"/>
                </a:solidFill>
              </a:rPr>
              <a:t>Strict jurisdiction</a:t>
            </a:r>
            <a:endParaRPr lang="en-US" sz="1900" dirty="0"/>
          </a:p>
        </p:txBody>
      </p:sp>
      <p:sp>
        <p:nvSpPr>
          <p:cNvPr id="23" name="Strict jurisdiction text"/>
          <p:cNvSpPr txBox="1"/>
          <p:nvPr/>
        </p:nvSpPr>
        <p:spPr>
          <a:xfrm>
            <a:off x="9317736" y="3931920"/>
            <a:ext cx="1965960" cy="960120"/>
          </a:xfrm>
          <a:prstGeom prst="rect">
            <a:avLst/>
          </a:prstGeom>
          <a:noFill/>
          <a:ln/>
        </p:spPr>
        <p:txBody>
          <a:bodyPr wrap="square" lIns="0" tIns="0" rIns="0" bIns="0" rtlCol="0" anchor="t"/>
          <a:lstStyle/>
          <a:p>
            <a:pPr indent="0" marL="0">
              <a:buNone/>
            </a:pPr>
            <a:r>
              <a:rPr lang="en-US" sz="1500" dirty="0">
                <a:solidFill>
                  <a:schemeClr val="tx1"/>
                </a:solidFill>
              </a:rPr>
              <a:t>Every record must stay visible only to its station, district or state officers.</a:t>
            </a:r>
            <a:endParaRPr lang="en-US" sz="1500" dirty="0"/>
          </a:p>
        </p:txBody>
      </p:sp>
      <p:sp>
        <p:nvSpPr>
          <p:cNvPr id="24" name="challenge takeaway"/>
          <p:cNvSpPr/>
          <p:nvPr/>
        </p:nvSpPr>
        <p:spPr>
          <a:xfrm>
            <a:off x="548640" y="5257800"/>
            <a:ext cx="11064240" cy="868680"/>
          </a:xfrm>
          <a:prstGeom prst="roundRect">
            <a:avLst>
              <a:gd name="adj" fmla="val 12632"/>
            </a:avLst>
          </a:prstGeom>
          <a:solidFill>
            <a:schemeClr val="tx2"/>
          </a:solidFill>
          <a:ln w="12700">
            <a:solidFill>
              <a:schemeClr val="tx2"/>
            </a:solidFill>
            <a:prstDash val="solid"/>
          </a:ln>
        </p:spPr>
      </p:sp>
      <p:sp>
        <p:nvSpPr>
          <p:cNvPr id="25" name="challenge takeaway text"/>
          <p:cNvSpPr txBox="1"/>
          <p:nvPr/>
        </p:nvSpPr>
        <p:spPr>
          <a:xfrm>
            <a:off x="868680" y="5257800"/>
            <a:ext cx="10424160" cy="868680"/>
          </a:xfrm>
          <a:prstGeom prst="rect">
            <a:avLst/>
          </a:prstGeom>
          <a:noFill/>
          <a:ln/>
        </p:spPr>
        <p:txBody>
          <a:bodyPr wrap="square" lIns="0" tIns="0" rIns="0" bIns="0" rtlCol="0" anchor="ctr"/>
          <a:lstStyle/>
          <a:p>
            <a:pPr indent="0" marL="0">
              <a:buNone/>
            </a:pPr>
            <a:r>
              <a:rPr lang="en-US" sz="1600" dirty="0">
                <a:solidFill>
                  <a:schemeClr val="bg1"/>
                </a:solidFill>
              </a:rPr>
              <a:t>FIR VisionAI reads the records, connects them to the law and earlier cases, and keeps every answer within the officer's jurisdiction.</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nchor="ctr"/>
          <a:lstStyle/>
          <a:p>
            <a:pPr algn="l" indent="0" marL="0">
              <a:buNone/>
            </a:pPr>
            <a:r>
              <a:rPr lang="en-US" sz="3200" b="1" dirty="0">
                <a:solidFill>
                  <a:schemeClr val="tx2"/>
                </a:solidFill>
              </a:rPr>
              <a:t>One platform from intake to intelligence</a:t>
            </a:r>
            <a:endParaRPr lang="en-US" sz="3200" dirty="0"/>
          </a:p>
        </p:txBody>
      </p:sp>
      <p:sp>
        <p:nvSpPr>
          <p:cNvPr id="4" name="Case intake and OCR card"/>
          <p:cNvSpPr/>
          <p:nvPr/>
        </p:nvSpPr>
        <p:spPr>
          <a:xfrm>
            <a:off x="548640" y="1554480"/>
            <a:ext cx="3520440" cy="2148840"/>
          </a:xfrm>
          <a:prstGeom prst="roundRect">
            <a:avLst>
              <a:gd name="adj" fmla="val 5106"/>
            </a:avLst>
          </a:prstGeom>
          <a:solidFill>
            <a:schemeClr val="bg2"/>
          </a:solidFill>
          <a:ln w="12700">
            <a:solidFill>
              <a:schemeClr val="bg2"/>
            </a:solidFill>
            <a:prstDash val="solid"/>
          </a:ln>
        </p:spPr>
      </p:sp>
      <p:sp>
        <p:nvSpPr>
          <p:cNvPr id="5" name="Case intake and OCR circle"/>
          <p:cNvSpPr/>
          <p:nvPr/>
        </p:nvSpPr>
        <p:spPr>
          <a:xfrm>
            <a:off x="822960" y="1874520"/>
            <a:ext cx="777240" cy="777240"/>
          </a:xfrm>
          <a:prstGeom prst="ellipse">
            <a:avLst/>
          </a:prstGeom>
          <a:solidFill>
            <a:schemeClr val="accent1"/>
          </a:solidFill>
          <a:ln w="12700">
            <a:solidFill>
              <a:schemeClr val="accent1"/>
            </a:solidFill>
            <a:prstDash val="solid"/>
          </a:ln>
        </p:spPr>
      </p:sp>
      <p:pic>
        <p:nvPicPr>
          <p:cNvPr id="6" name="Case intake and OCR icon" descr="Case intake and OCR">    </p:cNvPr>
          <p:cNvPicPr>
            <a:picLocks noChangeAspect="1"/>
          </p:cNvPicPr>
          <p:nvPr/>
        </p:nvPicPr>
        <p:blipFill>
          <a:blip r:embed="rId1"/>
          <a:stretch>
            <a:fillRect/>
          </a:stretch>
        </p:blipFill>
        <p:spPr>
          <a:xfrm>
            <a:off x="1009498" y="2061058"/>
            <a:ext cx="404165" cy="404165"/>
          </a:xfrm>
          <a:prstGeom prst="rect">
            <a:avLst/>
          </a:prstGeom>
        </p:spPr>
      </p:pic>
      <p:sp>
        <p:nvSpPr>
          <p:cNvPr id="7" name="Case intake and OCR title"/>
          <p:cNvSpPr txBox="1"/>
          <p:nvPr/>
        </p:nvSpPr>
        <p:spPr>
          <a:xfrm>
            <a:off x="1783080" y="1920240"/>
            <a:ext cx="2057400" cy="731520"/>
          </a:xfrm>
          <a:prstGeom prst="rect">
            <a:avLst/>
          </a:prstGeom>
          <a:noFill/>
          <a:ln/>
        </p:spPr>
        <p:txBody>
          <a:bodyPr wrap="square" lIns="0" tIns="0" rIns="0" bIns="0" rtlCol="0" anchor="ctr"/>
          <a:lstStyle/>
          <a:p>
            <a:pPr indent="0" marL="0">
              <a:buNone/>
            </a:pPr>
            <a:r>
              <a:rPr lang="en-US" sz="1800" b="1" dirty="0">
                <a:solidFill>
                  <a:schemeClr val="tx2"/>
                </a:solidFill>
              </a:rPr>
              <a:t>Case intake and OCR</a:t>
            </a:r>
            <a:endParaRPr lang="en-US" sz="1800" dirty="0"/>
          </a:p>
        </p:txBody>
      </p:sp>
      <p:sp>
        <p:nvSpPr>
          <p:cNvPr id="8" name="Case intake and OCR text"/>
          <p:cNvSpPr txBox="1"/>
          <p:nvPr/>
        </p:nvSpPr>
        <p:spPr>
          <a:xfrm>
            <a:off x="822960" y="2788920"/>
            <a:ext cx="2971800" cy="822960"/>
          </a:xfrm>
          <a:prstGeom prst="rect">
            <a:avLst/>
          </a:prstGeom>
          <a:noFill/>
          <a:ln/>
        </p:spPr>
        <p:txBody>
          <a:bodyPr wrap="square" lIns="0" tIns="0" rIns="0" bIns="0" rtlCol="0" anchor="t"/>
          <a:lstStyle/>
          <a:p>
            <a:pPr indent="0" marL="0">
              <a:buNone/>
            </a:pPr>
            <a:r>
              <a:rPr lang="en-US" sz="1400" dirty="0">
                <a:solidFill>
                  <a:schemeClr val="tx1"/>
                </a:solidFill>
              </a:rPr>
              <a:t>Upload an FIR image or PDF; text and fields are extracted for officer review.</a:t>
            </a:r>
            <a:endParaRPr lang="en-US" sz="1400" dirty="0"/>
          </a:p>
        </p:txBody>
      </p:sp>
      <p:sp>
        <p:nvSpPr>
          <p:cNvPr id="9" name="Grounded AI assistant card"/>
          <p:cNvSpPr/>
          <p:nvPr/>
        </p:nvSpPr>
        <p:spPr>
          <a:xfrm>
            <a:off x="4297680" y="1554480"/>
            <a:ext cx="3520440" cy="2148840"/>
          </a:xfrm>
          <a:prstGeom prst="roundRect">
            <a:avLst>
              <a:gd name="adj" fmla="val 5106"/>
            </a:avLst>
          </a:prstGeom>
          <a:solidFill>
            <a:schemeClr val="bg2"/>
          </a:solidFill>
          <a:ln w="12700">
            <a:solidFill>
              <a:schemeClr val="bg2"/>
            </a:solidFill>
            <a:prstDash val="solid"/>
          </a:ln>
        </p:spPr>
      </p:sp>
      <p:sp>
        <p:nvSpPr>
          <p:cNvPr id="10" name="Grounded AI assistant circle"/>
          <p:cNvSpPr/>
          <p:nvPr/>
        </p:nvSpPr>
        <p:spPr>
          <a:xfrm>
            <a:off x="4572000" y="1874520"/>
            <a:ext cx="777240" cy="777240"/>
          </a:xfrm>
          <a:prstGeom prst="ellipse">
            <a:avLst/>
          </a:prstGeom>
          <a:solidFill>
            <a:schemeClr val="accent3"/>
          </a:solidFill>
          <a:ln w="12700">
            <a:solidFill>
              <a:schemeClr val="accent3"/>
            </a:solidFill>
            <a:prstDash val="solid"/>
          </a:ln>
        </p:spPr>
      </p:sp>
      <p:pic>
        <p:nvPicPr>
          <p:cNvPr id="11" name="Grounded AI assistant icon" descr="Grounded AI assistant">    </p:cNvPr>
          <p:cNvPicPr>
            <a:picLocks noChangeAspect="1"/>
          </p:cNvPicPr>
          <p:nvPr/>
        </p:nvPicPr>
        <p:blipFill>
          <a:blip r:embed="rId2"/>
          <a:stretch>
            <a:fillRect/>
          </a:stretch>
        </p:blipFill>
        <p:spPr>
          <a:xfrm>
            <a:off x="4758538" y="2061058"/>
            <a:ext cx="404165" cy="404165"/>
          </a:xfrm>
          <a:prstGeom prst="rect">
            <a:avLst/>
          </a:prstGeom>
        </p:spPr>
      </p:pic>
      <p:sp>
        <p:nvSpPr>
          <p:cNvPr id="12" name="Grounded AI assistant title"/>
          <p:cNvSpPr txBox="1"/>
          <p:nvPr/>
        </p:nvSpPr>
        <p:spPr>
          <a:xfrm>
            <a:off x="5532120" y="1920240"/>
            <a:ext cx="2057400" cy="731520"/>
          </a:xfrm>
          <a:prstGeom prst="rect">
            <a:avLst/>
          </a:prstGeom>
          <a:noFill/>
          <a:ln/>
        </p:spPr>
        <p:txBody>
          <a:bodyPr wrap="square" lIns="0" tIns="0" rIns="0" bIns="0" rtlCol="0" anchor="ctr"/>
          <a:lstStyle/>
          <a:p>
            <a:pPr indent="0" marL="0">
              <a:buNone/>
            </a:pPr>
            <a:r>
              <a:rPr lang="en-US" sz="1800" b="1" dirty="0">
                <a:solidFill>
                  <a:schemeClr val="tx2"/>
                </a:solidFill>
              </a:rPr>
              <a:t>Grounded AI assistant</a:t>
            </a:r>
            <a:endParaRPr lang="en-US" sz="1800" dirty="0"/>
          </a:p>
        </p:txBody>
      </p:sp>
      <p:sp>
        <p:nvSpPr>
          <p:cNvPr id="13" name="Grounded AI assistant text"/>
          <p:cNvSpPr txBox="1"/>
          <p:nvPr/>
        </p:nvSpPr>
        <p:spPr>
          <a:xfrm>
            <a:off x="4572000" y="2788920"/>
            <a:ext cx="2971800" cy="822960"/>
          </a:xfrm>
          <a:prstGeom prst="rect">
            <a:avLst/>
          </a:prstGeom>
          <a:noFill/>
          <a:ln/>
        </p:spPr>
        <p:txBody>
          <a:bodyPr wrap="square" lIns="0" tIns="0" rIns="0" bIns="0" rtlCol="0" anchor="t"/>
          <a:lstStyle/>
          <a:p>
            <a:pPr indent="0" marL="0">
              <a:buNone/>
            </a:pPr>
            <a:r>
              <a:rPr lang="en-US" sz="1400" dirty="0">
                <a:solidFill>
                  <a:schemeClr val="tx1"/>
                </a:solidFill>
              </a:rPr>
              <a:t>Questions answered only from authorised documents, with page citations.</a:t>
            </a:r>
            <a:endParaRPr lang="en-US" sz="1400" dirty="0"/>
          </a:p>
        </p:txBody>
      </p:sp>
      <p:sp>
        <p:nvSpPr>
          <p:cNvPr id="14" name="Knowledge Base card"/>
          <p:cNvSpPr/>
          <p:nvPr/>
        </p:nvSpPr>
        <p:spPr>
          <a:xfrm>
            <a:off x="8046720" y="1554480"/>
            <a:ext cx="3520440" cy="2148840"/>
          </a:xfrm>
          <a:prstGeom prst="roundRect">
            <a:avLst>
              <a:gd name="adj" fmla="val 5106"/>
            </a:avLst>
          </a:prstGeom>
          <a:solidFill>
            <a:schemeClr val="bg2"/>
          </a:solidFill>
          <a:ln w="12700">
            <a:solidFill>
              <a:schemeClr val="bg2"/>
            </a:solidFill>
            <a:prstDash val="solid"/>
          </a:ln>
        </p:spPr>
      </p:sp>
      <p:sp>
        <p:nvSpPr>
          <p:cNvPr id="15" name="Knowledge Base circle"/>
          <p:cNvSpPr/>
          <p:nvPr/>
        </p:nvSpPr>
        <p:spPr>
          <a:xfrm>
            <a:off x="8321040" y="1874520"/>
            <a:ext cx="777240" cy="777240"/>
          </a:xfrm>
          <a:prstGeom prst="ellipse">
            <a:avLst/>
          </a:prstGeom>
          <a:solidFill>
            <a:schemeClr val="accent1"/>
          </a:solidFill>
          <a:ln w="12700">
            <a:solidFill>
              <a:schemeClr val="accent1"/>
            </a:solidFill>
            <a:prstDash val="solid"/>
          </a:ln>
        </p:spPr>
      </p:sp>
      <p:pic>
        <p:nvPicPr>
          <p:cNvPr id="16" name="Knowledge Base icon" descr="Knowledge Base">    </p:cNvPr>
          <p:cNvPicPr>
            <a:picLocks noChangeAspect="1"/>
          </p:cNvPicPr>
          <p:nvPr/>
        </p:nvPicPr>
        <p:blipFill>
          <a:blip r:embed="rId3"/>
          <a:stretch>
            <a:fillRect/>
          </a:stretch>
        </p:blipFill>
        <p:spPr>
          <a:xfrm>
            <a:off x="8507578" y="2061058"/>
            <a:ext cx="404165" cy="404165"/>
          </a:xfrm>
          <a:prstGeom prst="rect">
            <a:avLst/>
          </a:prstGeom>
        </p:spPr>
      </p:pic>
      <p:sp>
        <p:nvSpPr>
          <p:cNvPr id="17" name="Knowledge Base title"/>
          <p:cNvSpPr txBox="1"/>
          <p:nvPr/>
        </p:nvSpPr>
        <p:spPr>
          <a:xfrm>
            <a:off x="9281160" y="1920240"/>
            <a:ext cx="2057400" cy="731520"/>
          </a:xfrm>
          <a:prstGeom prst="rect">
            <a:avLst/>
          </a:prstGeom>
          <a:noFill/>
          <a:ln/>
        </p:spPr>
        <p:txBody>
          <a:bodyPr wrap="square" lIns="0" tIns="0" rIns="0" bIns="0" rtlCol="0" anchor="ctr"/>
          <a:lstStyle/>
          <a:p>
            <a:pPr indent="0" marL="0">
              <a:buNone/>
            </a:pPr>
            <a:r>
              <a:rPr lang="en-US" sz="1800" b="1" dirty="0">
                <a:solidFill>
                  <a:schemeClr val="tx2"/>
                </a:solidFill>
              </a:rPr>
              <a:t>Knowledge Base</a:t>
            </a:r>
            <a:endParaRPr lang="en-US" sz="1800" dirty="0"/>
          </a:p>
        </p:txBody>
      </p:sp>
      <p:sp>
        <p:nvSpPr>
          <p:cNvPr id="18" name="Knowledge Base text"/>
          <p:cNvSpPr txBox="1"/>
          <p:nvPr/>
        </p:nvSpPr>
        <p:spPr>
          <a:xfrm>
            <a:off x="8321040" y="2788920"/>
            <a:ext cx="2971800" cy="822960"/>
          </a:xfrm>
          <a:prstGeom prst="rect">
            <a:avLst/>
          </a:prstGeom>
          <a:noFill/>
          <a:ln/>
        </p:spPr>
        <p:txBody>
          <a:bodyPr wrap="square" lIns="0" tIns="0" rIns="0" bIns="0" rtlCol="0" anchor="t"/>
          <a:lstStyle/>
          <a:p>
            <a:pPr indent="0" marL="0">
              <a:buNone/>
            </a:pPr>
            <a:r>
              <a:rPr lang="en-US" sz="1400" dirty="0">
                <a:solidFill>
                  <a:schemeClr val="tx1"/>
                </a:solidFill>
              </a:rPr>
              <a:t>Official Acts, circulars, guides and historical FIRs in one searchable corpus.</a:t>
            </a:r>
            <a:endParaRPr lang="en-US" sz="1400" dirty="0"/>
          </a:p>
        </p:txBody>
      </p:sp>
      <p:sp>
        <p:nvSpPr>
          <p:cNvPr id="19" name="Multilingual summaries card"/>
          <p:cNvSpPr/>
          <p:nvPr/>
        </p:nvSpPr>
        <p:spPr>
          <a:xfrm>
            <a:off x="548640" y="3931920"/>
            <a:ext cx="3520440" cy="2148840"/>
          </a:xfrm>
          <a:prstGeom prst="roundRect">
            <a:avLst>
              <a:gd name="adj" fmla="val 5106"/>
            </a:avLst>
          </a:prstGeom>
          <a:solidFill>
            <a:schemeClr val="bg2"/>
          </a:solidFill>
          <a:ln w="12700">
            <a:solidFill>
              <a:schemeClr val="bg2"/>
            </a:solidFill>
            <a:prstDash val="solid"/>
          </a:ln>
        </p:spPr>
      </p:sp>
      <p:sp>
        <p:nvSpPr>
          <p:cNvPr id="20" name="Multilingual summaries circle"/>
          <p:cNvSpPr/>
          <p:nvPr/>
        </p:nvSpPr>
        <p:spPr>
          <a:xfrm>
            <a:off x="822960" y="4251960"/>
            <a:ext cx="777240" cy="777240"/>
          </a:xfrm>
          <a:prstGeom prst="ellipse">
            <a:avLst/>
          </a:prstGeom>
          <a:solidFill>
            <a:schemeClr val="accent3"/>
          </a:solidFill>
          <a:ln w="12700">
            <a:solidFill>
              <a:schemeClr val="accent3"/>
            </a:solidFill>
            <a:prstDash val="solid"/>
          </a:ln>
        </p:spPr>
      </p:sp>
      <p:pic>
        <p:nvPicPr>
          <p:cNvPr id="21" name="Multilingual summaries icon" descr="Multilingual summaries">    </p:cNvPr>
          <p:cNvPicPr>
            <a:picLocks noChangeAspect="1"/>
          </p:cNvPicPr>
          <p:nvPr/>
        </p:nvPicPr>
        <p:blipFill>
          <a:blip r:embed="rId4"/>
          <a:stretch>
            <a:fillRect/>
          </a:stretch>
        </p:blipFill>
        <p:spPr>
          <a:xfrm>
            <a:off x="1009498" y="4438498"/>
            <a:ext cx="404165" cy="404165"/>
          </a:xfrm>
          <a:prstGeom prst="rect">
            <a:avLst/>
          </a:prstGeom>
        </p:spPr>
      </p:pic>
      <p:sp>
        <p:nvSpPr>
          <p:cNvPr id="22" name="Multilingual summaries title"/>
          <p:cNvSpPr txBox="1"/>
          <p:nvPr/>
        </p:nvSpPr>
        <p:spPr>
          <a:xfrm>
            <a:off x="1783080" y="4297680"/>
            <a:ext cx="2057400" cy="731520"/>
          </a:xfrm>
          <a:prstGeom prst="rect">
            <a:avLst/>
          </a:prstGeom>
          <a:noFill/>
          <a:ln/>
        </p:spPr>
        <p:txBody>
          <a:bodyPr wrap="square" lIns="0" tIns="0" rIns="0" bIns="0" rtlCol="0" anchor="ctr"/>
          <a:lstStyle/>
          <a:p>
            <a:pPr indent="0" marL="0">
              <a:buNone/>
            </a:pPr>
            <a:r>
              <a:rPr lang="en-US" sz="1800" b="1" dirty="0">
                <a:solidFill>
                  <a:schemeClr val="tx2"/>
                </a:solidFill>
              </a:rPr>
              <a:t>Multilingual summaries</a:t>
            </a:r>
            <a:endParaRPr lang="en-US" sz="1800" dirty="0"/>
          </a:p>
        </p:txBody>
      </p:sp>
      <p:sp>
        <p:nvSpPr>
          <p:cNvPr id="23" name="Multilingual summaries text"/>
          <p:cNvSpPr txBox="1"/>
          <p:nvPr/>
        </p:nvSpPr>
        <p:spPr>
          <a:xfrm>
            <a:off x="822960" y="5166360"/>
            <a:ext cx="2971800" cy="822960"/>
          </a:xfrm>
          <a:prstGeom prst="rect">
            <a:avLst/>
          </a:prstGeom>
          <a:noFill/>
          <a:ln/>
        </p:spPr>
        <p:txBody>
          <a:bodyPr wrap="square" lIns="0" tIns="0" rIns="0" bIns="0" rtlCol="0" anchor="t"/>
          <a:lstStyle/>
          <a:p>
            <a:pPr indent="0" marL="0">
              <a:buNone/>
            </a:pPr>
            <a:r>
              <a:rPr lang="en-US" sz="1400" dirty="0">
                <a:solidFill>
                  <a:schemeClr val="tx1"/>
                </a:solidFill>
              </a:rPr>
              <a:t>Cited case summaries in English, Telugu and Hindi from the same evidence.</a:t>
            </a:r>
            <a:endParaRPr lang="en-US" sz="1400" dirty="0"/>
          </a:p>
        </p:txBody>
      </p:sp>
      <p:sp>
        <p:nvSpPr>
          <p:cNvPr id="24" name="Investigation intelligence card"/>
          <p:cNvSpPr/>
          <p:nvPr/>
        </p:nvSpPr>
        <p:spPr>
          <a:xfrm>
            <a:off x="4297680" y="3931920"/>
            <a:ext cx="3520440" cy="2148840"/>
          </a:xfrm>
          <a:prstGeom prst="roundRect">
            <a:avLst>
              <a:gd name="adj" fmla="val 5106"/>
            </a:avLst>
          </a:prstGeom>
          <a:solidFill>
            <a:schemeClr val="bg2"/>
          </a:solidFill>
          <a:ln w="12700">
            <a:solidFill>
              <a:schemeClr val="bg2"/>
            </a:solidFill>
            <a:prstDash val="solid"/>
          </a:ln>
        </p:spPr>
      </p:sp>
      <p:sp>
        <p:nvSpPr>
          <p:cNvPr id="25" name="Investigation intelligence circle"/>
          <p:cNvSpPr/>
          <p:nvPr/>
        </p:nvSpPr>
        <p:spPr>
          <a:xfrm>
            <a:off x="4572000" y="4251960"/>
            <a:ext cx="777240" cy="777240"/>
          </a:xfrm>
          <a:prstGeom prst="ellipse">
            <a:avLst/>
          </a:prstGeom>
          <a:solidFill>
            <a:schemeClr val="accent1"/>
          </a:solidFill>
          <a:ln w="12700">
            <a:solidFill>
              <a:schemeClr val="accent1"/>
            </a:solidFill>
            <a:prstDash val="solid"/>
          </a:ln>
        </p:spPr>
      </p:sp>
      <p:pic>
        <p:nvPicPr>
          <p:cNvPr id="26" name="Investigation intelligence icon" descr="Investigation intelligence">    </p:cNvPr>
          <p:cNvPicPr>
            <a:picLocks noChangeAspect="1"/>
          </p:cNvPicPr>
          <p:nvPr/>
        </p:nvPicPr>
        <p:blipFill>
          <a:blip r:embed="rId5"/>
          <a:stretch>
            <a:fillRect/>
          </a:stretch>
        </p:blipFill>
        <p:spPr>
          <a:xfrm>
            <a:off x="4758538" y="4438498"/>
            <a:ext cx="404165" cy="404165"/>
          </a:xfrm>
          <a:prstGeom prst="rect">
            <a:avLst/>
          </a:prstGeom>
        </p:spPr>
      </p:pic>
      <p:sp>
        <p:nvSpPr>
          <p:cNvPr id="27" name="Investigation intelligence title"/>
          <p:cNvSpPr txBox="1"/>
          <p:nvPr/>
        </p:nvSpPr>
        <p:spPr>
          <a:xfrm>
            <a:off x="5532120" y="4297680"/>
            <a:ext cx="2057400" cy="731520"/>
          </a:xfrm>
          <a:prstGeom prst="rect">
            <a:avLst/>
          </a:prstGeom>
          <a:noFill/>
          <a:ln/>
        </p:spPr>
        <p:txBody>
          <a:bodyPr wrap="square" lIns="0" tIns="0" rIns="0" bIns="0" rtlCol="0" anchor="ctr"/>
          <a:lstStyle/>
          <a:p>
            <a:pPr indent="0" marL="0">
              <a:buNone/>
            </a:pPr>
            <a:r>
              <a:rPr lang="en-US" sz="1800" b="1" dirty="0">
                <a:solidFill>
                  <a:schemeClr val="tx2"/>
                </a:solidFill>
              </a:rPr>
              <a:t>Investigation intelligence</a:t>
            </a:r>
            <a:endParaRPr lang="en-US" sz="1800" dirty="0"/>
          </a:p>
        </p:txBody>
      </p:sp>
      <p:sp>
        <p:nvSpPr>
          <p:cNvPr id="28" name="Investigation intelligence text"/>
          <p:cNvSpPr txBox="1"/>
          <p:nvPr/>
        </p:nvSpPr>
        <p:spPr>
          <a:xfrm>
            <a:off x="4572000" y="5166360"/>
            <a:ext cx="2971800" cy="822960"/>
          </a:xfrm>
          <a:prstGeom prst="rect">
            <a:avLst/>
          </a:prstGeom>
          <a:noFill/>
          <a:ln/>
        </p:spPr>
        <p:txBody>
          <a:bodyPr wrap="square" lIns="0" tIns="0" rIns="0" bIns="0" rtlCol="0" anchor="t"/>
          <a:lstStyle/>
          <a:p>
            <a:pPr indent="0" marL="0">
              <a:buNone/>
            </a:pPr>
            <a:r>
              <a:rPr lang="en-US" sz="1400" dirty="0">
                <a:solidFill>
                  <a:schemeClr val="tx1"/>
                </a:solidFill>
              </a:rPr>
              <a:t>Entity networks, repeat-offender checks, diaries and chargesheet drafts.</a:t>
            </a:r>
            <a:endParaRPr lang="en-US" sz="1400" dirty="0"/>
          </a:p>
        </p:txBody>
      </p:sp>
      <p:sp>
        <p:nvSpPr>
          <p:cNvPr id="29" name="Governance and audit card"/>
          <p:cNvSpPr/>
          <p:nvPr/>
        </p:nvSpPr>
        <p:spPr>
          <a:xfrm>
            <a:off x="8046720" y="3931920"/>
            <a:ext cx="3520440" cy="2148840"/>
          </a:xfrm>
          <a:prstGeom prst="roundRect">
            <a:avLst>
              <a:gd name="adj" fmla="val 5106"/>
            </a:avLst>
          </a:prstGeom>
          <a:solidFill>
            <a:schemeClr val="bg2"/>
          </a:solidFill>
          <a:ln w="12700">
            <a:solidFill>
              <a:schemeClr val="bg2"/>
            </a:solidFill>
            <a:prstDash val="solid"/>
          </a:ln>
        </p:spPr>
      </p:sp>
      <p:sp>
        <p:nvSpPr>
          <p:cNvPr id="30" name="Governance and audit circle"/>
          <p:cNvSpPr/>
          <p:nvPr/>
        </p:nvSpPr>
        <p:spPr>
          <a:xfrm>
            <a:off x="8321040" y="4251960"/>
            <a:ext cx="777240" cy="777240"/>
          </a:xfrm>
          <a:prstGeom prst="ellipse">
            <a:avLst/>
          </a:prstGeom>
          <a:solidFill>
            <a:schemeClr val="accent3"/>
          </a:solidFill>
          <a:ln w="12700">
            <a:solidFill>
              <a:schemeClr val="accent3"/>
            </a:solidFill>
            <a:prstDash val="solid"/>
          </a:ln>
        </p:spPr>
      </p:sp>
      <p:pic>
        <p:nvPicPr>
          <p:cNvPr id="31" name="Governance and audit icon" descr="Governance and audit">    </p:cNvPr>
          <p:cNvPicPr>
            <a:picLocks noChangeAspect="1"/>
          </p:cNvPicPr>
          <p:nvPr/>
        </p:nvPicPr>
        <p:blipFill>
          <a:blip r:embed="rId6"/>
          <a:stretch>
            <a:fillRect/>
          </a:stretch>
        </p:blipFill>
        <p:spPr>
          <a:xfrm>
            <a:off x="8507578" y="4438498"/>
            <a:ext cx="404165" cy="404165"/>
          </a:xfrm>
          <a:prstGeom prst="rect">
            <a:avLst/>
          </a:prstGeom>
        </p:spPr>
      </p:pic>
      <p:sp>
        <p:nvSpPr>
          <p:cNvPr id="32" name="Governance and audit title"/>
          <p:cNvSpPr txBox="1"/>
          <p:nvPr/>
        </p:nvSpPr>
        <p:spPr>
          <a:xfrm>
            <a:off x="9281160" y="4297680"/>
            <a:ext cx="2057400" cy="731520"/>
          </a:xfrm>
          <a:prstGeom prst="rect">
            <a:avLst/>
          </a:prstGeom>
          <a:noFill/>
          <a:ln/>
        </p:spPr>
        <p:txBody>
          <a:bodyPr wrap="square" lIns="0" tIns="0" rIns="0" bIns="0" rtlCol="0" anchor="ctr"/>
          <a:lstStyle/>
          <a:p>
            <a:pPr indent="0" marL="0">
              <a:buNone/>
            </a:pPr>
            <a:r>
              <a:rPr lang="en-US" sz="1800" b="1" dirty="0">
                <a:solidFill>
                  <a:schemeClr val="tx2"/>
                </a:solidFill>
              </a:rPr>
              <a:t>Governance and audit</a:t>
            </a:r>
            <a:endParaRPr lang="en-US" sz="1800" dirty="0"/>
          </a:p>
        </p:txBody>
      </p:sp>
      <p:sp>
        <p:nvSpPr>
          <p:cNvPr id="33" name="Governance and audit text"/>
          <p:cNvSpPr txBox="1"/>
          <p:nvPr/>
        </p:nvSpPr>
        <p:spPr>
          <a:xfrm>
            <a:off x="8321040" y="5166360"/>
            <a:ext cx="2971800" cy="822960"/>
          </a:xfrm>
          <a:prstGeom prst="rect">
            <a:avLst/>
          </a:prstGeom>
          <a:noFill/>
          <a:ln/>
        </p:spPr>
        <p:txBody>
          <a:bodyPr wrap="square" lIns="0" tIns="0" rIns="0" bIns="0" rtlCol="0" anchor="t"/>
          <a:lstStyle/>
          <a:p>
            <a:pPr indent="0" marL="0">
              <a:buNone/>
            </a:pPr>
            <a:r>
              <a:rPr lang="en-US" sz="1400" dirty="0">
                <a:solidFill>
                  <a:schemeClr val="tx1"/>
                </a:solidFill>
              </a:rPr>
              <a:t>Server-side jurisdiction, mandatory sign-off and a tamper-evident audit trail.</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nchor="ctr"/>
          <a:lstStyle/>
          <a:p>
            <a:pPr algn="l" indent="0" marL="0">
              <a:buNone/>
            </a:pPr>
            <a:r>
              <a:rPr lang="en-US" sz="3200" b="1" dirty="0">
                <a:solidFill>
                  <a:schemeClr val="tx2"/>
                </a:solidFill>
              </a:rPr>
              <a:t>Every FIR moves through six tracked stages</a:t>
            </a:r>
            <a:endParaRPr lang="en-US" sz="3200" dirty="0"/>
          </a:p>
        </p:txBody>
      </p:sp>
      <p:sp>
        <p:nvSpPr>
          <p:cNvPr id="4" name="flow line"/>
          <p:cNvSpPr/>
          <p:nvPr/>
        </p:nvSpPr>
        <p:spPr>
          <a:xfrm>
            <a:off x="1165860" y="2446020"/>
            <a:ext cx="9235440" cy="0"/>
          </a:xfrm>
          <a:prstGeom prst="line">
            <a:avLst/>
          </a:prstGeom>
          <a:noFill/>
          <a:ln w="25400">
            <a:solidFill>
              <a:schemeClr val="accent6"/>
            </a:solidFill>
            <a:prstDash val="dash"/>
          </a:ln>
        </p:spPr>
      </p:sp>
      <p:sp>
        <p:nvSpPr>
          <p:cNvPr id="5" name="Upload and OCR circle"/>
          <p:cNvSpPr/>
          <p:nvPr/>
        </p:nvSpPr>
        <p:spPr>
          <a:xfrm>
            <a:off x="685800" y="1965960"/>
            <a:ext cx="960120" cy="960120"/>
          </a:xfrm>
          <a:prstGeom prst="ellipse">
            <a:avLst/>
          </a:prstGeom>
          <a:solidFill>
            <a:schemeClr val="accent1"/>
          </a:solidFill>
          <a:ln w="12700">
            <a:solidFill>
              <a:schemeClr val="accent1"/>
            </a:solidFill>
            <a:prstDash val="solid"/>
          </a:ln>
        </p:spPr>
      </p:sp>
      <p:pic>
        <p:nvPicPr>
          <p:cNvPr id="6" name="Upload and OCR icon" descr="Upload and OCR">    </p:cNvPr>
          <p:cNvPicPr>
            <a:picLocks noChangeAspect="1"/>
          </p:cNvPicPr>
          <p:nvPr/>
        </p:nvPicPr>
        <p:blipFill>
          <a:blip r:embed="rId1"/>
          <a:stretch>
            <a:fillRect/>
          </a:stretch>
        </p:blipFill>
        <p:spPr>
          <a:xfrm>
            <a:off x="916229" y="2196389"/>
            <a:ext cx="499262" cy="499262"/>
          </a:xfrm>
          <a:prstGeom prst="rect">
            <a:avLst/>
          </a:prstGeom>
        </p:spPr>
      </p:pic>
      <p:sp>
        <p:nvSpPr>
          <p:cNvPr id="7" name="step 1 number"/>
          <p:cNvSpPr txBox="1"/>
          <p:nvPr/>
        </p:nvSpPr>
        <p:spPr>
          <a:xfrm>
            <a:off x="640080" y="1463040"/>
            <a:ext cx="1051560" cy="365760"/>
          </a:xfrm>
          <a:prstGeom prst="rect">
            <a:avLst/>
          </a:prstGeom>
          <a:noFill/>
          <a:ln/>
        </p:spPr>
        <p:txBody>
          <a:bodyPr wrap="square" lIns="0" tIns="0" rIns="0" bIns="0" rtlCol="0" anchor="t"/>
          <a:lstStyle/>
          <a:p>
            <a:pPr algn="ctr" indent="0" marL="0">
              <a:buNone/>
            </a:pPr>
            <a:r>
              <a:rPr lang="en-US" sz="1600" b="1" dirty="0">
                <a:solidFill>
                  <a:schemeClr val="accent6"/>
                </a:solidFill>
              </a:rPr>
              <a:t>1</a:t>
            </a:r>
            <a:endParaRPr lang="en-US" sz="1600" dirty="0"/>
          </a:p>
        </p:txBody>
      </p:sp>
      <p:sp>
        <p:nvSpPr>
          <p:cNvPr id="8" name="Upload and OCR title"/>
          <p:cNvSpPr txBox="1"/>
          <p:nvPr/>
        </p:nvSpPr>
        <p:spPr>
          <a:xfrm>
            <a:off x="274320" y="3108960"/>
            <a:ext cx="1783080" cy="685800"/>
          </a:xfrm>
          <a:prstGeom prst="rect">
            <a:avLst/>
          </a:prstGeom>
          <a:noFill/>
          <a:ln/>
        </p:spPr>
        <p:txBody>
          <a:bodyPr wrap="square" lIns="0" tIns="0" rIns="0" bIns="0" rtlCol="0" anchor="t"/>
          <a:lstStyle/>
          <a:p>
            <a:pPr algn="ctr" indent="0" marL="0">
              <a:buNone/>
            </a:pPr>
            <a:r>
              <a:rPr lang="en-US" sz="1600" b="1" dirty="0">
                <a:solidFill>
                  <a:schemeClr val="tx2"/>
                </a:solidFill>
              </a:rPr>
              <a:t>Upload and OCR</a:t>
            </a:r>
            <a:endParaRPr lang="en-US" sz="1600" dirty="0"/>
          </a:p>
        </p:txBody>
      </p:sp>
      <p:sp>
        <p:nvSpPr>
          <p:cNvPr id="9" name="Upload and OCR text"/>
          <p:cNvSpPr txBox="1"/>
          <p:nvPr/>
        </p:nvSpPr>
        <p:spPr>
          <a:xfrm>
            <a:off x="274320" y="3794760"/>
            <a:ext cx="1783080" cy="914400"/>
          </a:xfrm>
          <a:prstGeom prst="rect">
            <a:avLst/>
          </a:prstGeom>
          <a:noFill/>
          <a:ln/>
        </p:spPr>
        <p:txBody>
          <a:bodyPr wrap="square" lIns="0" tIns="0" rIns="0" bIns="0" rtlCol="0" anchor="t"/>
          <a:lstStyle/>
          <a:p>
            <a:pPr algn="ctr" indent="0" marL="0">
              <a:buNone/>
            </a:pPr>
            <a:r>
              <a:rPr lang="en-US" sz="1400" dirty="0">
                <a:solidFill>
                  <a:schemeClr val="tx1"/>
                </a:solidFill>
              </a:rPr>
              <a:t>Text and fields extracted from the FIR</a:t>
            </a:r>
            <a:endParaRPr lang="en-US" sz="1400" dirty="0"/>
          </a:p>
        </p:txBody>
      </p:sp>
      <p:sp>
        <p:nvSpPr>
          <p:cNvPr id="10" name="Officer sign-off circle"/>
          <p:cNvSpPr/>
          <p:nvPr/>
        </p:nvSpPr>
        <p:spPr>
          <a:xfrm>
            <a:off x="2532888" y="1965960"/>
            <a:ext cx="960120" cy="960120"/>
          </a:xfrm>
          <a:prstGeom prst="ellipse">
            <a:avLst/>
          </a:prstGeom>
          <a:solidFill>
            <a:schemeClr val="accent2"/>
          </a:solidFill>
          <a:ln w="12700">
            <a:solidFill>
              <a:schemeClr val="accent2"/>
            </a:solidFill>
            <a:prstDash val="solid"/>
          </a:ln>
        </p:spPr>
      </p:sp>
      <p:pic>
        <p:nvPicPr>
          <p:cNvPr id="11" name="Officer sign-off icon" descr="Officer sign-off">    </p:cNvPr>
          <p:cNvPicPr>
            <a:picLocks noChangeAspect="1"/>
          </p:cNvPicPr>
          <p:nvPr/>
        </p:nvPicPr>
        <p:blipFill>
          <a:blip r:embed="rId2"/>
          <a:stretch>
            <a:fillRect/>
          </a:stretch>
        </p:blipFill>
        <p:spPr>
          <a:xfrm>
            <a:off x="2763317" y="2196389"/>
            <a:ext cx="499262" cy="499262"/>
          </a:xfrm>
          <a:prstGeom prst="rect">
            <a:avLst/>
          </a:prstGeom>
        </p:spPr>
      </p:pic>
      <p:sp>
        <p:nvSpPr>
          <p:cNvPr id="12" name="step 2 number"/>
          <p:cNvSpPr txBox="1"/>
          <p:nvPr/>
        </p:nvSpPr>
        <p:spPr>
          <a:xfrm>
            <a:off x="2487168" y="1463040"/>
            <a:ext cx="1051560" cy="365760"/>
          </a:xfrm>
          <a:prstGeom prst="rect">
            <a:avLst/>
          </a:prstGeom>
          <a:noFill/>
          <a:ln/>
        </p:spPr>
        <p:txBody>
          <a:bodyPr wrap="square" lIns="0" tIns="0" rIns="0" bIns="0" rtlCol="0" anchor="t"/>
          <a:lstStyle/>
          <a:p>
            <a:pPr algn="ctr" indent="0" marL="0">
              <a:buNone/>
            </a:pPr>
            <a:r>
              <a:rPr lang="en-US" sz="1600" b="1" dirty="0">
                <a:solidFill>
                  <a:schemeClr val="accent6"/>
                </a:solidFill>
              </a:rPr>
              <a:t>2</a:t>
            </a:r>
            <a:endParaRPr lang="en-US" sz="1600" dirty="0"/>
          </a:p>
        </p:txBody>
      </p:sp>
      <p:sp>
        <p:nvSpPr>
          <p:cNvPr id="13" name="Officer sign-off title"/>
          <p:cNvSpPr txBox="1"/>
          <p:nvPr/>
        </p:nvSpPr>
        <p:spPr>
          <a:xfrm>
            <a:off x="2121408" y="3108960"/>
            <a:ext cx="1783080" cy="685800"/>
          </a:xfrm>
          <a:prstGeom prst="rect">
            <a:avLst/>
          </a:prstGeom>
          <a:noFill/>
          <a:ln/>
        </p:spPr>
        <p:txBody>
          <a:bodyPr wrap="square" lIns="0" tIns="0" rIns="0" bIns="0" rtlCol="0" anchor="t"/>
          <a:lstStyle/>
          <a:p>
            <a:pPr algn="ctr" indent="0" marL="0">
              <a:buNone/>
            </a:pPr>
            <a:r>
              <a:rPr lang="en-US" sz="1600" b="1" dirty="0">
                <a:solidFill>
                  <a:schemeClr val="tx2"/>
                </a:solidFill>
              </a:rPr>
              <a:t>Officer sign-off</a:t>
            </a:r>
            <a:endParaRPr lang="en-US" sz="1600" dirty="0"/>
          </a:p>
        </p:txBody>
      </p:sp>
      <p:sp>
        <p:nvSpPr>
          <p:cNvPr id="14" name="Officer sign-off text"/>
          <p:cNvSpPr txBox="1"/>
          <p:nvPr/>
        </p:nvSpPr>
        <p:spPr>
          <a:xfrm>
            <a:off x="2121408" y="3794760"/>
            <a:ext cx="1783080" cy="914400"/>
          </a:xfrm>
          <a:prstGeom prst="rect">
            <a:avLst/>
          </a:prstGeom>
          <a:noFill/>
          <a:ln/>
        </p:spPr>
        <p:txBody>
          <a:bodyPr wrap="square" lIns="0" tIns="0" rIns="0" bIns="0" rtlCol="0" anchor="t"/>
          <a:lstStyle/>
          <a:p>
            <a:pPr algn="ctr" indent="0" marL="0">
              <a:buNone/>
            </a:pPr>
            <a:r>
              <a:rPr lang="en-US" sz="1400" dirty="0">
                <a:solidFill>
                  <a:schemeClr val="tx1"/>
                </a:solidFill>
              </a:rPr>
              <a:t>Every field reviewed and confirmed</a:t>
            </a:r>
            <a:endParaRPr lang="en-US" sz="1400" dirty="0"/>
          </a:p>
        </p:txBody>
      </p:sp>
      <p:sp>
        <p:nvSpPr>
          <p:cNvPr id="15" name="AI and legal circle"/>
          <p:cNvSpPr/>
          <p:nvPr/>
        </p:nvSpPr>
        <p:spPr>
          <a:xfrm>
            <a:off x="4379976" y="1965960"/>
            <a:ext cx="960120" cy="960120"/>
          </a:xfrm>
          <a:prstGeom prst="ellipse">
            <a:avLst/>
          </a:prstGeom>
          <a:solidFill>
            <a:schemeClr val="accent1"/>
          </a:solidFill>
          <a:ln w="12700">
            <a:solidFill>
              <a:schemeClr val="accent1"/>
            </a:solidFill>
            <a:prstDash val="solid"/>
          </a:ln>
        </p:spPr>
      </p:sp>
      <p:pic>
        <p:nvPicPr>
          <p:cNvPr id="16" name="AI and legal icon" descr="AI and legal">    </p:cNvPr>
          <p:cNvPicPr>
            <a:picLocks noChangeAspect="1"/>
          </p:cNvPicPr>
          <p:nvPr/>
        </p:nvPicPr>
        <p:blipFill>
          <a:blip r:embed="rId3"/>
          <a:stretch>
            <a:fillRect/>
          </a:stretch>
        </p:blipFill>
        <p:spPr>
          <a:xfrm>
            <a:off x="4610405" y="2196389"/>
            <a:ext cx="499262" cy="499262"/>
          </a:xfrm>
          <a:prstGeom prst="rect">
            <a:avLst/>
          </a:prstGeom>
        </p:spPr>
      </p:pic>
      <p:sp>
        <p:nvSpPr>
          <p:cNvPr id="17" name="step 3 number"/>
          <p:cNvSpPr txBox="1"/>
          <p:nvPr/>
        </p:nvSpPr>
        <p:spPr>
          <a:xfrm>
            <a:off x="4334256" y="1463040"/>
            <a:ext cx="1051560" cy="365760"/>
          </a:xfrm>
          <a:prstGeom prst="rect">
            <a:avLst/>
          </a:prstGeom>
          <a:noFill/>
          <a:ln/>
        </p:spPr>
        <p:txBody>
          <a:bodyPr wrap="square" lIns="0" tIns="0" rIns="0" bIns="0" rtlCol="0" anchor="t"/>
          <a:lstStyle/>
          <a:p>
            <a:pPr algn="ctr" indent="0" marL="0">
              <a:buNone/>
            </a:pPr>
            <a:r>
              <a:rPr lang="en-US" sz="1600" b="1" dirty="0">
                <a:solidFill>
                  <a:schemeClr val="accent6"/>
                </a:solidFill>
              </a:rPr>
              <a:t>3</a:t>
            </a:r>
            <a:endParaRPr lang="en-US" sz="1600" dirty="0"/>
          </a:p>
        </p:txBody>
      </p:sp>
      <p:sp>
        <p:nvSpPr>
          <p:cNvPr id="18" name="AI and legal title"/>
          <p:cNvSpPr txBox="1"/>
          <p:nvPr/>
        </p:nvSpPr>
        <p:spPr>
          <a:xfrm>
            <a:off x="3968496" y="3108960"/>
            <a:ext cx="1783080" cy="685800"/>
          </a:xfrm>
          <a:prstGeom prst="rect">
            <a:avLst/>
          </a:prstGeom>
          <a:noFill/>
          <a:ln/>
        </p:spPr>
        <p:txBody>
          <a:bodyPr wrap="square" lIns="0" tIns="0" rIns="0" bIns="0" rtlCol="0" anchor="t"/>
          <a:lstStyle/>
          <a:p>
            <a:pPr algn="ctr" indent="0" marL="0">
              <a:buNone/>
            </a:pPr>
            <a:r>
              <a:rPr lang="en-US" sz="1600" b="1" dirty="0">
                <a:solidFill>
                  <a:schemeClr val="tx2"/>
                </a:solidFill>
              </a:rPr>
              <a:t>AI and legal</a:t>
            </a:r>
            <a:endParaRPr lang="en-US" sz="1600" dirty="0"/>
          </a:p>
        </p:txBody>
      </p:sp>
      <p:sp>
        <p:nvSpPr>
          <p:cNvPr id="19" name="AI and legal text"/>
          <p:cNvSpPr txBox="1"/>
          <p:nvPr/>
        </p:nvSpPr>
        <p:spPr>
          <a:xfrm>
            <a:off x="3968496" y="3794760"/>
            <a:ext cx="1783080" cy="914400"/>
          </a:xfrm>
          <a:prstGeom prst="rect">
            <a:avLst/>
          </a:prstGeom>
          <a:noFill/>
          <a:ln/>
        </p:spPr>
        <p:txBody>
          <a:bodyPr wrap="square" lIns="0" tIns="0" rIns="0" bIns="0" rtlCol="0" anchor="t"/>
          <a:lstStyle/>
          <a:p>
            <a:pPr algn="ctr" indent="0" marL="0">
              <a:buNone/>
            </a:pPr>
            <a:r>
              <a:rPr lang="en-US" sz="1400" dirty="0">
                <a:solidFill>
                  <a:schemeClr val="tx1"/>
                </a:solidFill>
              </a:rPr>
              <a:t>Candidate legal sections suggested</a:t>
            </a:r>
            <a:endParaRPr lang="en-US" sz="1400" dirty="0"/>
          </a:p>
        </p:txBody>
      </p:sp>
      <p:sp>
        <p:nvSpPr>
          <p:cNvPr id="20" name="Investigation circle"/>
          <p:cNvSpPr/>
          <p:nvPr/>
        </p:nvSpPr>
        <p:spPr>
          <a:xfrm>
            <a:off x="6227064" y="1965960"/>
            <a:ext cx="960120" cy="960120"/>
          </a:xfrm>
          <a:prstGeom prst="ellipse">
            <a:avLst/>
          </a:prstGeom>
          <a:solidFill>
            <a:schemeClr val="accent1"/>
          </a:solidFill>
          <a:ln w="12700">
            <a:solidFill>
              <a:schemeClr val="accent1"/>
            </a:solidFill>
            <a:prstDash val="solid"/>
          </a:ln>
        </p:spPr>
      </p:sp>
      <p:pic>
        <p:nvPicPr>
          <p:cNvPr id="21" name="Investigation icon" descr="Investigation">    </p:cNvPr>
          <p:cNvPicPr>
            <a:picLocks noChangeAspect="1"/>
          </p:cNvPicPr>
          <p:nvPr/>
        </p:nvPicPr>
        <p:blipFill>
          <a:blip r:embed="rId4"/>
          <a:stretch>
            <a:fillRect/>
          </a:stretch>
        </p:blipFill>
        <p:spPr>
          <a:xfrm>
            <a:off x="6457493" y="2196389"/>
            <a:ext cx="499262" cy="499262"/>
          </a:xfrm>
          <a:prstGeom prst="rect">
            <a:avLst/>
          </a:prstGeom>
        </p:spPr>
      </p:pic>
      <p:sp>
        <p:nvSpPr>
          <p:cNvPr id="22" name="step 4 number"/>
          <p:cNvSpPr txBox="1"/>
          <p:nvPr/>
        </p:nvSpPr>
        <p:spPr>
          <a:xfrm>
            <a:off x="6181344" y="1463040"/>
            <a:ext cx="1051560" cy="365760"/>
          </a:xfrm>
          <a:prstGeom prst="rect">
            <a:avLst/>
          </a:prstGeom>
          <a:noFill/>
          <a:ln/>
        </p:spPr>
        <p:txBody>
          <a:bodyPr wrap="square" lIns="0" tIns="0" rIns="0" bIns="0" rtlCol="0" anchor="t"/>
          <a:lstStyle/>
          <a:p>
            <a:pPr algn="ctr" indent="0" marL="0">
              <a:buNone/>
            </a:pPr>
            <a:r>
              <a:rPr lang="en-US" sz="1600" b="1" dirty="0">
                <a:solidFill>
                  <a:schemeClr val="accent6"/>
                </a:solidFill>
              </a:rPr>
              <a:t>4</a:t>
            </a:r>
            <a:endParaRPr lang="en-US" sz="1600" dirty="0"/>
          </a:p>
        </p:txBody>
      </p:sp>
      <p:sp>
        <p:nvSpPr>
          <p:cNvPr id="23" name="Investigation title"/>
          <p:cNvSpPr txBox="1"/>
          <p:nvPr/>
        </p:nvSpPr>
        <p:spPr>
          <a:xfrm>
            <a:off x="5815584" y="3108960"/>
            <a:ext cx="1783080" cy="685800"/>
          </a:xfrm>
          <a:prstGeom prst="rect">
            <a:avLst/>
          </a:prstGeom>
          <a:noFill/>
          <a:ln/>
        </p:spPr>
        <p:txBody>
          <a:bodyPr wrap="square" lIns="0" tIns="0" rIns="0" bIns="0" rtlCol="0" anchor="t"/>
          <a:lstStyle/>
          <a:p>
            <a:pPr algn="ctr" indent="0" marL="0">
              <a:buNone/>
            </a:pPr>
            <a:r>
              <a:rPr lang="en-US" sz="1600" b="1" dirty="0">
                <a:solidFill>
                  <a:schemeClr val="tx2"/>
                </a:solidFill>
              </a:rPr>
              <a:t>Investigation</a:t>
            </a:r>
            <a:endParaRPr lang="en-US" sz="1600" dirty="0"/>
          </a:p>
        </p:txBody>
      </p:sp>
      <p:sp>
        <p:nvSpPr>
          <p:cNvPr id="24" name="Investigation text"/>
          <p:cNvSpPr txBox="1"/>
          <p:nvPr/>
        </p:nvSpPr>
        <p:spPr>
          <a:xfrm>
            <a:off x="5815584" y="3794760"/>
            <a:ext cx="1783080" cy="914400"/>
          </a:xfrm>
          <a:prstGeom prst="rect">
            <a:avLst/>
          </a:prstGeom>
          <a:noFill/>
          <a:ln/>
        </p:spPr>
        <p:txBody>
          <a:bodyPr wrap="square" lIns="0" tIns="0" rIns="0" bIns="0" rtlCol="0" anchor="t"/>
          <a:lstStyle/>
          <a:p>
            <a:pPr algn="ctr" indent="0" marL="0">
              <a:buNone/>
            </a:pPr>
            <a:r>
              <a:rPr lang="en-US" sz="1400" dirty="0">
                <a:solidFill>
                  <a:schemeClr val="tx1"/>
                </a:solidFill>
              </a:rPr>
              <a:t>Case diary and chargesheet drafts</a:t>
            </a:r>
            <a:endParaRPr lang="en-US" sz="1400" dirty="0"/>
          </a:p>
        </p:txBody>
      </p:sp>
      <p:sp>
        <p:nvSpPr>
          <p:cNvPr id="25" name="Administration circle"/>
          <p:cNvSpPr/>
          <p:nvPr/>
        </p:nvSpPr>
        <p:spPr>
          <a:xfrm>
            <a:off x="8074152" y="1965960"/>
            <a:ext cx="960120" cy="960120"/>
          </a:xfrm>
          <a:prstGeom prst="ellipse">
            <a:avLst/>
          </a:prstGeom>
          <a:solidFill>
            <a:schemeClr val="accent1"/>
          </a:solidFill>
          <a:ln w="12700">
            <a:solidFill>
              <a:schemeClr val="accent1"/>
            </a:solidFill>
            <a:prstDash val="solid"/>
          </a:ln>
        </p:spPr>
      </p:sp>
      <p:pic>
        <p:nvPicPr>
          <p:cNvPr id="26" name="Administration icon" descr="Administration">    </p:cNvPr>
          <p:cNvPicPr>
            <a:picLocks noChangeAspect="1"/>
          </p:cNvPicPr>
          <p:nvPr/>
        </p:nvPicPr>
        <p:blipFill>
          <a:blip r:embed="rId5"/>
          <a:stretch>
            <a:fillRect/>
          </a:stretch>
        </p:blipFill>
        <p:spPr>
          <a:xfrm>
            <a:off x="8304581" y="2196389"/>
            <a:ext cx="499262" cy="499262"/>
          </a:xfrm>
          <a:prstGeom prst="rect">
            <a:avLst/>
          </a:prstGeom>
        </p:spPr>
      </p:pic>
      <p:sp>
        <p:nvSpPr>
          <p:cNvPr id="27" name="step 5 number"/>
          <p:cNvSpPr txBox="1"/>
          <p:nvPr/>
        </p:nvSpPr>
        <p:spPr>
          <a:xfrm>
            <a:off x="8028432" y="1463040"/>
            <a:ext cx="1051560" cy="365760"/>
          </a:xfrm>
          <a:prstGeom prst="rect">
            <a:avLst/>
          </a:prstGeom>
          <a:noFill/>
          <a:ln/>
        </p:spPr>
        <p:txBody>
          <a:bodyPr wrap="square" lIns="0" tIns="0" rIns="0" bIns="0" rtlCol="0" anchor="t"/>
          <a:lstStyle/>
          <a:p>
            <a:pPr algn="ctr" indent="0" marL="0">
              <a:buNone/>
            </a:pPr>
            <a:r>
              <a:rPr lang="en-US" sz="1600" b="1" dirty="0">
                <a:solidFill>
                  <a:schemeClr val="accent6"/>
                </a:solidFill>
              </a:rPr>
              <a:t>5</a:t>
            </a:r>
            <a:endParaRPr lang="en-US" sz="1600" dirty="0"/>
          </a:p>
        </p:txBody>
      </p:sp>
      <p:sp>
        <p:nvSpPr>
          <p:cNvPr id="28" name="Administration title"/>
          <p:cNvSpPr txBox="1"/>
          <p:nvPr/>
        </p:nvSpPr>
        <p:spPr>
          <a:xfrm>
            <a:off x="7662672" y="3108960"/>
            <a:ext cx="1783080" cy="685800"/>
          </a:xfrm>
          <a:prstGeom prst="rect">
            <a:avLst/>
          </a:prstGeom>
          <a:noFill/>
          <a:ln/>
        </p:spPr>
        <p:txBody>
          <a:bodyPr wrap="square" lIns="0" tIns="0" rIns="0" bIns="0" rtlCol="0" anchor="t"/>
          <a:lstStyle/>
          <a:p>
            <a:pPr algn="ctr" indent="0" marL="0">
              <a:buNone/>
            </a:pPr>
            <a:r>
              <a:rPr lang="en-US" sz="1600" b="1" dirty="0">
                <a:solidFill>
                  <a:schemeClr val="tx2"/>
                </a:solidFill>
              </a:rPr>
              <a:t>Administration</a:t>
            </a:r>
            <a:endParaRPr lang="en-US" sz="1600" dirty="0"/>
          </a:p>
        </p:txBody>
      </p:sp>
      <p:sp>
        <p:nvSpPr>
          <p:cNvPr id="29" name="Administration text"/>
          <p:cNvSpPr txBox="1"/>
          <p:nvPr/>
        </p:nvSpPr>
        <p:spPr>
          <a:xfrm>
            <a:off x="7662672" y="3794760"/>
            <a:ext cx="1783080" cy="914400"/>
          </a:xfrm>
          <a:prstGeom prst="rect">
            <a:avLst/>
          </a:prstGeom>
          <a:noFill/>
          <a:ln/>
        </p:spPr>
        <p:txBody>
          <a:bodyPr wrap="square" lIns="0" tIns="0" rIns="0" bIns="0" rtlCol="0" anchor="t"/>
          <a:lstStyle/>
          <a:p>
            <a:pPr algn="ctr" indent="0" marL="0">
              <a:buNone/>
            </a:pPr>
            <a:r>
              <a:rPr lang="en-US" sz="1400" dirty="0">
                <a:solidFill>
                  <a:schemeClr val="tx1"/>
                </a:solidFill>
              </a:rPr>
              <a:t>Readiness check, listed in existing FIRs</a:t>
            </a:r>
            <a:endParaRPr lang="en-US" sz="1400" dirty="0"/>
          </a:p>
        </p:txBody>
      </p:sp>
      <p:sp>
        <p:nvSpPr>
          <p:cNvPr id="30" name="Network intelligence circle"/>
          <p:cNvSpPr/>
          <p:nvPr/>
        </p:nvSpPr>
        <p:spPr>
          <a:xfrm>
            <a:off x="9921240" y="1965960"/>
            <a:ext cx="960120" cy="960120"/>
          </a:xfrm>
          <a:prstGeom prst="ellipse">
            <a:avLst/>
          </a:prstGeom>
          <a:solidFill>
            <a:schemeClr val="accent1"/>
          </a:solidFill>
          <a:ln w="12700">
            <a:solidFill>
              <a:schemeClr val="accent1"/>
            </a:solidFill>
            <a:prstDash val="solid"/>
          </a:ln>
        </p:spPr>
      </p:sp>
      <p:pic>
        <p:nvPicPr>
          <p:cNvPr id="31" name="Network intelligence icon" descr="Network intelligence">    </p:cNvPr>
          <p:cNvPicPr>
            <a:picLocks noChangeAspect="1"/>
          </p:cNvPicPr>
          <p:nvPr/>
        </p:nvPicPr>
        <p:blipFill>
          <a:blip r:embed="rId6"/>
          <a:stretch>
            <a:fillRect/>
          </a:stretch>
        </p:blipFill>
        <p:spPr>
          <a:xfrm>
            <a:off x="10151669" y="2196389"/>
            <a:ext cx="499262" cy="499262"/>
          </a:xfrm>
          <a:prstGeom prst="rect">
            <a:avLst/>
          </a:prstGeom>
        </p:spPr>
      </p:pic>
      <p:sp>
        <p:nvSpPr>
          <p:cNvPr id="32" name="step 6 number"/>
          <p:cNvSpPr txBox="1"/>
          <p:nvPr/>
        </p:nvSpPr>
        <p:spPr>
          <a:xfrm>
            <a:off x="9875520" y="1463040"/>
            <a:ext cx="1051560" cy="365760"/>
          </a:xfrm>
          <a:prstGeom prst="rect">
            <a:avLst/>
          </a:prstGeom>
          <a:noFill/>
          <a:ln/>
        </p:spPr>
        <p:txBody>
          <a:bodyPr wrap="square" lIns="0" tIns="0" rIns="0" bIns="0" rtlCol="0" anchor="t"/>
          <a:lstStyle/>
          <a:p>
            <a:pPr algn="ctr" indent="0" marL="0">
              <a:buNone/>
            </a:pPr>
            <a:r>
              <a:rPr lang="en-US" sz="1600" b="1" dirty="0">
                <a:solidFill>
                  <a:schemeClr val="accent6"/>
                </a:solidFill>
              </a:rPr>
              <a:t>6</a:t>
            </a:r>
            <a:endParaRPr lang="en-US" sz="1600" dirty="0"/>
          </a:p>
        </p:txBody>
      </p:sp>
      <p:sp>
        <p:nvSpPr>
          <p:cNvPr id="33" name="Network intelligence title"/>
          <p:cNvSpPr txBox="1"/>
          <p:nvPr/>
        </p:nvSpPr>
        <p:spPr>
          <a:xfrm>
            <a:off x="9509760" y="3108960"/>
            <a:ext cx="1783080" cy="685800"/>
          </a:xfrm>
          <a:prstGeom prst="rect">
            <a:avLst/>
          </a:prstGeom>
          <a:noFill/>
          <a:ln/>
        </p:spPr>
        <p:txBody>
          <a:bodyPr wrap="square" lIns="0" tIns="0" rIns="0" bIns="0" rtlCol="0" anchor="t"/>
          <a:lstStyle/>
          <a:p>
            <a:pPr algn="ctr" indent="0" marL="0">
              <a:buNone/>
            </a:pPr>
            <a:r>
              <a:rPr lang="en-US" sz="1600" b="1" dirty="0">
                <a:solidFill>
                  <a:schemeClr val="tx2"/>
                </a:solidFill>
              </a:rPr>
              <a:t>Network intelligence</a:t>
            </a:r>
            <a:endParaRPr lang="en-US" sz="1600" dirty="0"/>
          </a:p>
        </p:txBody>
      </p:sp>
      <p:sp>
        <p:nvSpPr>
          <p:cNvPr id="34" name="Network intelligence text"/>
          <p:cNvSpPr txBox="1"/>
          <p:nvPr/>
        </p:nvSpPr>
        <p:spPr>
          <a:xfrm>
            <a:off x="9509760" y="3794760"/>
            <a:ext cx="1783080" cy="914400"/>
          </a:xfrm>
          <a:prstGeom prst="rect">
            <a:avLst/>
          </a:prstGeom>
          <a:noFill/>
          <a:ln/>
        </p:spPr>
        <p:txBody>
          <a:bodyPr wrap="square" lIns="0" tIns="0" rIns="0" bIns="0" rtlCol="0" anchor="t"/>
          <a:lstStyle/>
          <a:p>
            <a:pPr algn="ctr" indent="0" marL="0">
              <a:buNone/>
            </a:pPr>
            <a:r>
              <a:rPr lang="en-US" sz="1400" dirty="0">
                <a:solidFill>
                  <a:schemeClr val="tx1"/>
                </a:solidFill>
              </a:rPr>
              <a:t>Repeat offenders and linked cases</a:t>
            </a:r>
            <a:endParaRPr lang="en-US" sz="1400" dirty="0"/>
          </a:p>
        </p:txBody>
      </p:sp>
      <p:sp>
        <p:nvSpPr>
          <p:cNvPr id="35" name="sign-off note"/>
          <p:cNvSpPr/>
          <p:nvPr/>
        </p:nvSpPr>
        <p:spPr>
          <a:xfrm>
            <a:off x="548640" y="5074920"/>
            <a:ext cx="11064240" cy="1051560"/>
          </a:xfrm>
          <a:prstGeom prst="roundRect">
            <a:avLst>
              <a:gd name="adj" fmla="val 10435"/>
            </a:avLst>
          </a:prstGeom>
          <a:solidFill>
            <a:schemeClr val="bg2"/>
          </a:solidFill>
          <a:ln w="12700">
            <a:solidFill>
              <a:schemeClr val="bg2"/>
            </a:solidFill>
            <a:prstDash val="solid"/>
          </a:ln>
        </p:spPr>
      </p:sp>
      <p:sp>
        <p:nvSpPr>
          <p:cNvPr id="36" name="sign-off circle"/>
          <p:cNvSpPr/>
          <p:nvPr/>
        </p:nvSpPr>
        <p:spPr>
          <a:xfrm>
            <a:off x="777240" y="5230368"/>
            <a:ext cx="731520" cy="731520"/>
          </a:xfrm>
          <a:prstGeom prst="ellipse">
            <a:avLst/>
          </a:prstGeom>
          <a:solidFill>
            <a:schemeClr val="accent2"/>
          </a:solidFill>
          <a:ln w="12700">
            <a:solidFill>
              <a:schemeClr val="accent2"/>
            </a:solidFill>
            <a:prstDash val="solid"/>
          </a:ln>
        </p:spPr>
      </p:sp>
      <p:pic>
        <p:nvPicPr>
          <p:cNvPr id="37" name="sign-off icon" descr="sign-off">    </p:cNvPr>
          <p:cNvPicPr>
            <a:picLocks noChangeAspect="1"/>
          </p:cNvPicPr>
          <p:nvPr/>
        </p:nvPicPr>
        <p:blipFill>
          <a:blip r:embed="rId7"/>
          <a:stretch>
            <a:fillRect/>
          </a:stretch>
        </p:blipFill>
        <p:spPr>
          <a:xfrm>
            <a:off x="952805" y="5405933"/>
            <a:ext cx="380390" cy="380390"/>
          </a:xfrm>
          <a:prstGeom prst="rect">
            <a:avLst/>
          </a:prstGeom>
        </p:spPr>
      </p:pic>
      <p:sp>
        <p:nvSpPr>
          <p:cNvPr id="38" name="sign-off text"/>
          <p:cNvSpPr txBox="1"/>
          <p:nvPr/>
        </p:nvSpPr>
        <p:spPr>
          <a:xfrm>
            <a:off x="1737360" y="5230368"/>
            <a:ext cx="9692640" cy="731520"/>
          </a:xfrm>
          <a:prstGeom prst="rect">
            <a:avLst/>
          </a:prstGeom>
          <a:noFill/>
          <a:ln/>
        </p:spPr>
        <p:txBody>
          <a:bodyPr wrap="square" lIns="0" tIns="0" rIns="0" bIns="0" rtlCol="0" anchor="ctr"/>
          <a:lstStyle/>
          <a:p>
            <a:pPr indent="0" marL="0">
              <a:buNone/>
            </a:pPr>
            <a:r>
              <a:rPr lang="en-US" sz="1500" b="1" dirty="0">
                <a:solidFill>
                  <a:schemeClr val="tx2"/>
                </a:solidFill>
              </a:rPr>
              <a:t>Human control at every step. </a:t>
            </a:r>
            <a:pPr indent="0" marL="0">
              <a:buNone/>
            </a:pPr>
            <a:r>
              <a:rPr lang="en-US" sz="1500" dirty="0">
                <a:solidFill>
                  <a:schemeClr val="tx1"/>
                </a:solidFill>
              </a:rPr>
              <a:t>Cases are registered as Under Review and never approved automatically. Failed stages retry without repeating completed work.</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nchor="ctr"/>
          <a:lstStyle/>
          <a:p>
            <a:pPr algn="l" indent="0" marL="0">
              <a:buNone/>
            </a:pPr>
            <a:r>
              <a:rPr lang="en-US" sz="3200" b="1" dirty="0">
                <a:solidFill>
                  <a:schemeClr val="tx2"/>
                </a:solidFill>
              </a:rPr>
              <a:t>Answers come only from authorised documents</a:t>
            </a:r>
            <a:endParaRPr lang="en-US" sz="3200" dirty="0"/>
          </a:p>
        </p:txBody>
      </p:sp>
      <p:sp>
        <p:nvSpPr>
          <p:cNvPr id="4" name="scopes heading"/>
          <p:cNvSpPr txBox="1"/>
          <p:nvPr/>
        </p:nvSpPr>
        <p:spPr>
          <a:xfrm>
            <a:off x="548640" y="1508760"/>
            <a:ext cx="5120640" cy="411480"/>
          </a:xfrm>
          <a:prstGeom prst="rect">
            <a:avLst/>
          </a:prstGeom>
          <a:noFill/>
          <a:ln/>
        </p:spPr>
        <p:txBody>
          <a:bodyPr wrap="square" lIns="0" tIns="0" rIns="0" bIns="0" rtlCol="0" anchor="t"/>
          <a:lstStyle/>
          <a:p>
            <a:pPr indent="0" marL="0">
              <a:buNone/>
            </a:pPr>
            <a:r>
              <a:rPr lang="en-US" sz="1800" b="1" dirty="0">
                <a:solidFill>
                  <a:schemeClr val="tx2"/>
                </a:solidFill>
              </a:rPr>
              <a:t>Choose what the assistant may read</a:t>
            </a:r>
            <a:endParaRPr lang="en-US" sz="1800" dirty="0"/>
          </a:p>
        </p:txBody>
      </p:sp>
      <p:sp>
        <p:nvSpPr>
          <p:cNvPr id="5" name="Current FIR chip"/>
          <p:cNvSpPr/>
          <p:nvPr/>
        </p:nvSpPr>
        <p:spPr>
          <a:xfrm>
            <a:off x="548640" y="2057400"/>
            <a:ext cx="2103120" cy="548640"/>
          </a:xfrm>
          <a:prstGeom prst="roundRect">
            <a:avLst>
              <a:gd name="adj" fmla="val 20000"/>
            </a:avLst>
          </a:prstGeom>
          <a:solidFill>
            <a:schemeClr val="accent3"/>
          </a:solidFill>
          <a:ln w="12700">
            <a:solidFill>
              <a:schemeClr val="accent3"/>
            </a:solidFill>
            <a:prstDash val="solid"/>
          </a:ln>
        </p:spPr>
      </p:sp>
      <p:sp>
        <p:nvSpPr>
          <p:cNvPr id="6" name="Current FIR label"/>
          <p:cNvSpPr txBox="1"/>
          <p:nvPr/>
        </p:nvSpPr>
        <p:spPr>
          <a:xfrm>
            <a:off x="548640" y="2057400"/>
            <a:ext cx="2103120" cy="548640"/>
          </a:xfrm>
          <a:prstGeom prst="rect">
            <a:avLst/>
          </a:prstGeom>
          <a:noFill/>
          <a:ln/>
        </p:spPr>
        <p:txBody>
          <a:bodyPr wrap="square" lIns="0" tIns="0" rIns="0" bIns="0" rtlCol="0" anchor="ctr"/>
          <a:lstStyle/>
          <a:p>
            <a:pPr algn="ctr" indent="0" marL="0">
              <a:buNone/>
            </a:pPr>
            <a:r>
              <a:rPr lang="en-US" sz="1500" b="1" dirty="0">
                <a:solidFill>
                  <a:schemeClr val="bg1"/>
                </a:solidFill>
              </a:rPr>
              <a:t>Current FIR</a:t>
            </a:r>
            <a:endParaRPr lang="en-US" sz="1500" dirty="0"/>
          </a:p>
        </p:txBody>
      </p:sp>
      <p:sp>
        <p:nvSpPr>
          <p:cNvPr id="7" name="Current FIR desc"/>
          <p:cNvSpPr txBox="1"/>
          <p:nvPr/>
        </p:nvSpPr>
        <p:spPr>
          <a:xfrm>
            <a:off x="2834640" y="2057400"/>
            <a:ext cx="2926080" cy="548640"/>
          </a:xfrm>
          <a:prstGeom prst="rect">
            <a:avLst/>
          </a:prstGeom>
          <a:noFill/>
          <a:ln/>
        </p:spPr>
        <p:txBody>
          <a:bodyPr wrap="square" lIns="0" tIns="0" rIns="0" bIns="0" rtlCol="0" anchor="ctr"/>
          <a:lstStyle/>
          <a:p>
            <a:pPr indent="0" marL="0">
              <a:buNone/>
            </a:pPr>
            <a:r>
              <a:rPr lang="en-US" sz="1500" dirty="0">
                <a:solidFill>
                  <a:schemeClr val="tx1"/>
                </a:solidFill>
              </a:rPr>
              <a:t>the selected FIR only</a:t>
            </a:r>
            <a:endParaRPr lang="en-US" sz="1500" dirty="0"/>
          </a:p>
        </p:txBody>
      </p:sp>
      <p:sp>
        <p:nvSpPr>
          <p:cNvPr id="8" name="Case + evidence chip"/>
          <p:cNvSpPr/>
          <p:nvPr/>
        </p:nvSpPr>
        <p:spPr>
          <a:xfrm>
            <a:off x="548640" y="2770632"/>
            <a:ext cx="2103120" cy="548640"/>
          </a:xfrm>
          <a:prstGeom prst="roundRect">
            <a:avLst>
              <a:gd name="adj" fmla="val 20000"/>
            </a:avLst>
          </a:prstGeom>
          <a:solidFill>
            <a:schemeClr val="accent3"/>
          </a:solidFill>
          <a:ln w="12700">
            <a:solidFill>
              <a:schemeClr val="accent3"/>
            </a:solidFill>
            <a:prstDash val="solid"/>
          </a:ln>
        </p:spPr>
      </p:sp>
      <p:sp>
        <p:nvSpPr>
          <p:cNvPr id="9" name="Case + evidence label"/>
          <p:cNvSpPr txBox="1"/>
          <p:nvPr/>
        </p:nvSpPr>
        <p:spPr>
          <a:xfrm>
            <a:off x="548640" y="2770632"/>
            <a:ext cx="2103120" cy="548640"/>
          </a:xfrm>
          <a:prstGeom prst="rect">
            <a:avLst/>
          </a:prstGeom>
          <a:noFill/>
          <a:ln/>
        </p:spPr>
        <p:txBody>
          <a:bodyPr wrap="square" lIns="0" tIns="0" rIns="0" bIns="0" rtlCol="0" anchor="ctr"/>
          <a:lstStyle/>
          <a:p>
            <a:pPr algn="ctr" indent="0" marL="0">
              <a:buNone/>
            </a:pPr>
            <a:r>
              <a:rPr lang="en-US" sz="1500" b="1" dirty="0">
                <a:solidFill>
                  <a:schemeClr val="bg1"/>
                </a:solidFill>
              </a:rPr>
              <a:t>Case + evidence</a:t>
            </a:r>
            <a:endParaRPr lang="en-US" sz="1500" dirty="0"/>
          </a:p>
        </p:txBody>
      </p:sp>
      <p:sp>
        <p:nvSpPr>
          <p:cNvPr id="10" name="Case + evidence desc"/>
          <p:cNvSpPr txBox="1"/>
          <p:nvPr/>
        </p:nvSpPr>
        <p:spPr>
          <a:xfrm>
            <a:off x="2834640" y="2770632"/>
            <a:ext cx="2926080" cy="548640"/>
          </a:xfrm>
          <a:prstGeom prst="rect">
            <a:avLst/>
          </a:prstGeom>
          <a:noFill/>
          <a:ln/>
        </p:spPr>
        <p:txBody>
          <a:bodyPr wrap="square" lIns="0" tIns="0" rIns="0" bIns="0" rtlCol="0" anchor="ctr"/>
          <a:lstStyle/>
          <a:p>
            <a:pPr indent="0" marL="0">
              <a:buNone/>
            </a:pPr>
            <a:r>
              <a:rPr lang="en-US" sz="1500" dirty="0">
                <a:solidFill>
                  <a:schemeClr val="tx1"/>
                </a:solidFill>
              </a:rPr>
              <a:t>the case's documents</a:t>
            </a:r>
            <a:endParaRPr lang="en-US" sz="1500" dirty="0"/>
          </a:p>
        </p:txBody>
      </p:sp>
      <p:sp>
        <p:nvSpPr>
          <p:cNvPr id="11" name="FIR + Law chip"/>
          <p:cNvSpPr/>
          <p:nvPr/>
        </p:nvSpPr>
        <p:spPr>
          <a:xfrm>
            <a:off x="548640" y="3483864"/>
            <a:ext cx="2103120" cy="548640"/>
          </a:xfrm>
          <a:prstGeom prst="roundRect">
            <a:avLst>
              <a:gd name="adj" fmla="val 20000"/>
            </a:avLst>
          </a:prstGeom>
          <a:solidFill>
            <a:schemeClr val="accent3"/>
          </a:solidFill>
          <a:ln w="12700">
            <a:solidFill>
              <a:schemeClr val="accent3"/>
            </a:solidFill>
            <a:prstDash val="solid"/>
          </a:ln>
        </p:spPr>
      </p:sp>
      <p:sp>
        <p:nvSpPr>
          <p:cNvPr id="12" name="FIR + Law label"/>
          <p:cNvSpPr txBox="1"/>
          <p:nvPr/>
        </p:nvSpPr>
        <p:spPr>
          <a:xfrm>
            <a:off x="548640" y="3483864"/>
            <a:ext cx="2103120" cy="548640"/>
          </a:xfrm>
          <a:prstGeom prst="rect">
            <a:avLst/>
          </a:prstGeom>
          <a:noFill/>
          <a:ln/>
        </p:spPr>
        <p:txBody>
          <a:bodyPr wrap="square" lIns="0" tIns="0" rIns="0" bIns="0" rtlCol="0" anchor="ctr"/>
          <a:lstStyle/>
          <a:p>
            <a:pPr algn="ctr" indent="0" marL="0">
              <a:buNone/>
            </a:pPr>
            <a:r>
              <a:rPr lang="en-US" sz="1500" b="1" dirty="0">
                <a:solidFill>
                  <a:schemeClr val="bg1"/>
                </a:solidFill>
              </a:rPr>
              <a:t>FIR + Law</a:t>
            </a:r>
            <a:endParaRPr lang="en-US" sz="1500" dirty="0"/>
          </a:p>
        </p:txBody>
      </p:sp>
      <p:sp>
        <p:nvSpPr>
          <p:cNvPr id="13" name="FIR + Law desc"/>
          <p:cNvSpPr txBox="1"/>
          <p:nvPr/>
        </p:nvSpPr>
        <p:spPr>
          <a:xfrm>
            <a:off x="2834640" y="3483864"/>
            <a:ext cx="2926080" cy="548640"/>
          </a:xfrm>
          <a:prstGeom prst="rect">
            <a:avLst/>
          </a:prstGeom>
          <a:noFill/>
          <a:ln/>
        </p:spPr>
        <p:txBody>
          <a:bodyPr wrap="square" lIns="0" tIns="0" rIns="0" bIns="0" rtlCol="0" anchor="ctr"/>
          <a:lstStyle/>
          <a:p>
            <a:pPr indent="0" marL="0">
              <a:buNone/>
            </a:pPr>
            <a:r>
              <a:rPr lang="en-US" sz="1500" dirty="0">
                <a:solidFill>
                  <a:schemeClr val="tx1"/>
                </a:solidFill>
              </a:rPr>
              <a:t>FIR plus the legal corpus</a:t>
            </a:r>
            <a:endParaRPr lang="en-US" sz="1500" dirty="0"/>
          </a:p>
        </p:txBody>
      </p:sp>
      <p:sp>
        <p:nvSpPr>
          <p:cNvPr id="14" name="Knowledge Base chip"/>
          <p:cNvSpPr/>
          <p:nvPr/>
        </p:nvSpPr>
        <p:spPr>
          <a:xfrm>
            <a:off x="548640" y="4197096"/>
            <a:ext cx="2103120" cy="548640"/>
          </a:xfrm>
          <a:prstGeom prst="roundRect">
            <a:avLst>
              <a:gd name="adj" fmla="val 20000"/>
            </a:avLst>
          </a:prstGeom>
          <a:solidFill>
            <a:schemeClr val="accent3"/>
          </a:solidFill>
          <a:ln w="12700">
            <a:solidFill>
              <a:schemeClr val="accent3"/>
            </a:solidFill>
            <a:prstDash val="solid"/>
          </a:ln>
        </p:spPr>
      </p:sp>
      <p:sp>
        <p:nvSpPr>
          <p:cNvPr id="15" name="Knowledge Base label"/>
          <p:cNvSpPr txBox="1"/>
          <p:nvPr/>
        </p:nvSpPr>
        <p:spPr>
          <a:xfrm>
            <a:off x="548640" y="4197096"/>
            <a:ext cx="2103120" cy="548640"/>
          </a:xfrm>
          <a:prstGeom prst="rect">
            <a:avLst/>
          </a:prstGeom>
          <a:noFill/>
          <a:ln/>
        </p:spPr>
        <p:txBody>
          <a:bodyPr wrap="square" lIns="0" tIns="0" rIns="0" bIns="0" rtlCol="0" anchor="ctr"/>
          <a:lstStyle/>
          <a:p>
            <a:pPr algn="ctr" indent="0" marL="0">
              <a:buNone/>
            </a:pPr>
            <a:r>
              <a:rPr lang="en-US" sz="1500" b="1" dirty="0">
                <a:solidFill>
                  <a:schemeClr val="bg1"/>
                </a:solidFill>
              </a:rPr>
              <a:t>Knowledge Base</a:t>
            </a:r>
            <a:endParaRPr lang="en-US" sz="1500" dirty="0"/>
          </a:p>
        </p:txBody>
      </p:sp>
      <p:sp>
        <p:nvSpPr>
          <p:cNvPr id="16" name="Knowledge Base desc"/>
          <p:cNvSpPr txBox="1"/>
          <p:nvPr/>
        </p:nvSpPr>
        <p:spPr>
          <a:xfrm>
            <a:off x="2834640" y="4197096"/>
            <a:ext cx="2926080" cy="548640"/>
          </a:xfrm>
          <a:prstGeom prst="rect">
            <a:avLst/>
          </a:prstGeom>
          <a:noFill/>
          <a:ln/>
        </p:spPr>
        <p:txBody>
          <a:bodyPr wrap="square" lIns="0" tIns="0" rIns="0" bIns="0" rtlCol="0" anchor="ctr"/>
          <a:lstStyle/>
          <a:p>
            <a:pPr indent="0" marL="0">
              <a:buNone/>
            </a:pPr>
            <a:r>
              <a:rPr lang="en-US" sz="1500" dirty="0">
                <a:solidFill>
                  <a:schemeClr val="tx1"/>
                </a:solidFill>
              </a:rPr>
              <a:t>laws, circulars, guides</a:t>
            </a:r>
            <a:endParaRPr lang="en-US" sz="1500" dirty="0"/>
          </a:p>
        </p:txBody>
      </p:sp>
      <p:sp>
        <p:nvSpPr>
          <p:cNvPr id="17" name="All authorised chip"/>
          <p:cNvSpPr/>
          <p:nvPr/>
        </p:nvSpPr>
        <p:spPr>
          <a:xfrm>
            <a:off x="548640" y="4910328"/>
            <a:ext cx="2103120" cy="548640"/>
          </a:xfrm>
          <a:prstGeom prst="roundRect">
            <a:avLst>
              <a:gd name="adj" fmla="val 20000"/>
            </a:avLst>
          </a:prstGeom>
          <a:solidFill>
            <a:schemeClr val="accent3"/>
          </a:solidFill>
          <a:ln w="12700">
            <a:solidFill>
              <a:schemeClr val="accent3"/>
            </a:solidFill>
            <a:prstDash val="solid"/>
          </a:ln>
        </p:spPr>
      </p:sp>
      <p:sp>
        <p:nvSpPr>
          <p:cNvPr id="18" name="All authorised label"/>
          <p:cNvSpPr txBox="1"/>
          <p:nvPr/>
        </p:nvSpPr>
        <p:spPr>
          <a:xfrm>
            <a:off x="548640" y="4910328"/>
            <a:ext cx="2103120" cy="548640"/>
          </a:xfrm>
          <a:prstGeom prst="rect">
            <a:avLst/>
          </a:prstGeom>
          <a:noFill/>
          <a:ln/>
        </p:spPr>
        <p:txBody>
          <a:bodyPr wrap="square" lIns="0" tIns="0" rIns="0" bIns="0" rtlCol="0" anchor="ctr"/>
          <a:lstStyle/>
          <a:p>
            <a:pPr algn="ctr" indent="0" marL="0">
              <a:buNone/>
            </a:pPr>
            <a:r>
              <a:rPr lang="en-US" sz="1500" b="1" dirty="0">
                <a:solidFill>
                  <a:schemeClr val="bg1"/>
                </a:solidFill>
              </a:rPr>
              <a:t>All authorised</a:t>
            </a:r>
            <a:endParaRPr lang="en-US" sz="1500" dirty="0"/>
          </a:p>
        </p:txBody>
      </p:sp>
      <p:sp>
        <p:nvSpPr>
          <p:cNvPr id="19" name="All authorised desc"/>
          <p:cNvSpPr txBox="1"/>
          <p:nvPr/>
        </p:nvSpPr>
        <p:spPr>
          <a:xfrm>
            <a:off x="2834640" y="4910328"/>
            <a:ext cx="2926080" cy="548640"/>
          </a:xfrm>
          <a:prstGeom prst="rect">
            <a:avLst/>
          </a:prstGeom>
          <a:noFill/>
          <a:ln/>
        </p:spPr>
        <p:txBody>
          <a:bodyPr wrap="square" lIns="0" tIns="0" rIns="0" bIns="0" rtlCol="0" anchor="ctr"/>
          <a:lstStyle/>
          <a:p>
            <a:pPr indent="0" marL="0">
              <a:buNone/>
            </a:pPr>
            <a:r>
              <a:rPr lang="en-US" sz="1500" dirty="0">
                <a:solidFill>
                  <a:schemeClr val="tx1"/>
                </a:solidFill>
              </a:rPr>
              <a:t>everything in your jurisdiction</a:t>
            </a:r>
            <a:endParaRPr lang="en-US" sz="1500" dirty="0"/>
          </a:p>
        </p:txBody>
      </p:sp>
      <p:sp>
        <p:nvSpPr>
          <p:cNvPr id="20" name="example answer card"/>
          <p:cNvSpPr/>
          <p:nvPr/>
        </p:nvSpPr>
        <p:spPr>
          <a:xfrm>
            <a:off x="6172200" y="1508760"/>
            <a:ext cx="5440680" cy="4526280"/>
          </a:xfrm>
          <a:prstGeom prst="roundRect">
            <a:avLst>
              <a:gd name="adj" fmla="val 2424"/>
            </a:avLst>
          </a:prstGeom>
          <a:solidFill>
            <a:schemeClr val="bg2"/>
          </a:solidFill>
          <a:ln w="12700">
            <a:solidFill>
              <a:schemeClr val="bg2"/>
            </a:solidFill>
            <a:prstDash val="solid"/>
          </a:ln>
        </p:spPr>
      </p:sp>
      <p:sp>
        <p:nvSpPr>
          <p:cNvPr id="21" name="example circle"/>
          <p:cNvSpPr/>
          <p:nvPr/>
        </p:nvSpPr>
        <p:spPr>
          <a:xfrm>
            <a:off x="6446520" y="1783080"/>
            <a:ext cx="685800" cy="685800"/>
          </a:xfrm>
          <a:prstGeom prst="ellipse">
            <a:avLst/>
          </a:prstGeom>
          <a:solidFill>
            <a:schemeClr val="accent3"/>
          </a:solidFill>
          <a:ln w="12700">
            <a:solidFill>
              <a:schemeClr val="accent3"/>
            </a:solidFill>
            <a:prstDash val="solid"/>
          </a:ln>
        </p:spPr>
      </p:sp>
      <p:pic>
        <p:nvPicPr>
          <p:cNvPr id="22" name="example icon" descr="example">    </p:cNvPr>
          <p:cNvPicPr>
            <a:picLocks noChangeAspect="1"/>
          </p:cNvPicPr>
          <p:nvPr/>
        </p:nvPicPr>
        <p:blipFill>
          <a:blip r:embed="rId1"/>
          <a:stretch>
            <a:fillRect/>
          </a:stretch>
        </p:blipFill>
        <p:spPr>
          <a:xfrm>
            <a:off x="6611112" y="1947672"/>
            <a:ext cx="356616" cy="356616"/>
          </a:xfrm>
          <a:prstGeom prst="rect">
            <a:avLst/>
          </a:prstGeom>
        </p:spPr>
      </p:pic>
      <p:sp>
        <p:nvSpPr>
          <p:cNvPr id="23" name="example question"/>
          <p:cNvSpPr txBox="1"/>
          <p:nvPr/>
        </p:nvSpPr>
        <p:spPr>
          <a:xfrm>
            <a:off x="7315200" y="1783080"/>
            <a:ext cx="4114800" cy="731520"/>
          </a:xfrm>
          <a:prstGeom prst="rect">
            <a:avLst/>
          </a:prstGeom>
          <a:noFill/>
          <a:ln/>
        </p:spPr>
        <p:txBody>
          <a:bodyPr wrap="square" lIns="0" tIns="0" rIns="0" bIns="0" rtlCol="0" anchor="ctr"/>
          <a:lstStyle/>
          <a:p>
            <a:pPr indent="0" marL="0">
              <a:buNone/>
            </a:pPr>
            <a:r>
              <a:rPr lang="en-US" sz="1600" b="1" i="1" dirty="0">
                <a:solidFill>
                  <a:schemeClr val="tx2"/>
                </a:solidFill>
              </a:rPr>
              <a:t>“What is the punishment for theft under the BNS?”</a:t>
            </a:r>
            <a:endParaRPr lang="en-US" sz="1600" dirty="0"/>
          </a:p>
        </p:txBody>
      </p:sp>
      <p:sp>
        <p:nvSpPr>
          <p:cNvPr id="24" name="example answer"/>
          <p:cNvSpPr txBox="1"/>
          <p:nvPr/>
        </p:nvSpPr>
        <p:spPr>
          <a:xfrm>
            <a:off x="6446520" y="2743200"/>
            <a:ext cx="4892040" cy="1600200"/>
          </a:xfrm>
          <a:prstGeom prst="rect">
            <a:avLst/>
          </a:prstGeom>
          <a:noFill/>
          <a:ln/>
        </p:spPr>
        <p:txBody>
          <a:bodyPr wrap="square" lIns="0" tIns="0" rIns="0" bIns="0" rtlCol="0" anchor="t"/>
          <a:lstStyle/>
          <a:p>
            <a:pPr indent="0" marL="0">
              <a:buNone/>
            </a:pPr>
            <a:r>
              <a:rPr lang="en-US" sz="1500" dirty="0">
                <a:solidFill>
                  <a:schemeClr val="tx1"/>
                </a:solidFill>
              </a:rPr>
              <a:t>Under Section 303(2) of the Bharatiya Nyaya Sanhita, 2023, whoever commits theft shall be punished with imprisonment of either description for up to three years, or with fine, or with both. </a:t>
            </a:r>
            <a:pPr indent="0" marL="0">
              <a:buNone/>
            </a:pPr>
            <a:r>
              <a:rPr lang="en-US" sz="1500" b="1" dirty="0">
                <a:solidFill>
                  <a:schemeClr val="accent3"/>
                </a:solidFill>
              </a:rPr>
              <a:t>[S1]</a:t>
            </a:r>
            <a:endParaRPr lang="en-US" sz="1500" dirty="0"/>
          </a:p>
        </p:txBody>
      </p:sp>
      <p:sp>
        <p:nvSpPr>
          <p:cNvPr id="25" name="example citation"/>
          <p:cNvSpPr txBox="1"/>
          <p:nvPr/>
        </p:nvSpPr>
        <p:spPr>
          <a:xfrm>
            <a:off x="6446520" y="4434840"/>
            <a:ext cx="4892040" cy="548640"/>
          </a:xfrm>
          <a:prstGeom prst="rect">
            <a:avLst/>
          </a:prstGeom>
          <a:noFill/>
          <a:ln/>
        </p:spPr>
        <p:txBody>
          <a:bodyPr wrap="square" lIns="0" tIns="0" rIns="0" bIns="0" rtlCol="0" anchor="t"/>
          <a:lstStyle/>
          <a:p>
            <a:pPr indent="0" marL="0">
              <a:buNone/>
            </a:pPr>
            <a:r>
              <a:rPr lang="en-US" sz="1200" dirty="0">
                <a:solidFill>
                  <a:schemeClr val="accent6"/>
                </a:solidFill>
              </a:rPr>
              <a:t>S1  ·  The Bharatiya Nyaya Sanhita, 2023  ·  Section 303, page 79  ·  Official source</a:t>
            </a:r>
            <a:endParaRPr lang="en-US" sz="1200" dirty="0"/>
          </a:p>
        </p:txBody>
      </p:sp>
      <p:sp>
        <p:nvSpPr>
          <p:cNvPr id="26" name="example caption"/>
          <p:cNvSpPr txBox="1"/>
          <p:nvPr/>
        </p:nvSpPr>
        <p:spPr>
          <a:xfrm>
            <a:off x="6446520" y="5120640"/>
            <a:ext cx="4892040" cy="640080"/>
          </a:xfrm>
          <a:prstGeom prst="rect">
            <a:avLst/>
          </a:prstGeom>
          <a:noFill/>
          <a:ln/>
        </p:spPr>
        <p:txBody>
          <a:bodyPr wrap="square" lIns="0" tIns="0" rIns="0" bIns="0" rtlCol="0" anchor="t"/>
          <a:lstStyle/>
          <a:p>
            <a:pPr indent="0" marL="0">
              <a:buNone/>
            </a:pPr>
            <a:r>
              <a:rPr lang="en-US" sz="1200" i="1" dirty="0">
                <a:solidFill>
                  <a:schemeClr val="accent6"/>
                </a:solidFill>
              </a:rPr>
              <a:t>Real answer from the live system; the citation opens the official Act.</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nchor="ctr"/>
          <a:lstStyle/>
          <a:p>
            <a:pPr algn="l" indent="0" marL="0">
              <a:buNone/>
            </a:pPr>
            <a:r>
              <a:rPr lang="en-US" sz="3200" b="1" dirty="0">
                <a:solidFill>
                  <a:schemeClr val="tx2"/>
                </a:solidFill>
              </a:rPr>
              <a:t>A verified legal corpus behind every answer</a:t>
            </a:r>
            <a:endParaRPr lang="en-US" sz="3200" dirty="0"/>
          </a:p>
        </p:txBody>
      </p:sp>
      <p:sp>
        <p:nvSpPr>
          <p:cNvPr id="4" name="categories heading"/>
          <p:cNvSpPr txBox="1"/>
          <p:nvPr/>
        </p:nvSpPr>
        <p:spPr>
          <a:xfrm>
            <a:off x="548640" y="1508760"/>
            <a:ext cx="4937760" cy="411480"/>
          </a:xfrm>
          <a:prstGeom prst="rect">
            <a:avLst/>
          </a:prstGeom>
          <a:noFill/>
          <a:ln/>
        </p:spPr>
        <p:txBody>
          <a:bodyPr wrap="square" lIns="0" tIns="0" rIns="0" bIns="0" rtlCol="0" anchor="t"/>
          <a:lstStyle/>
          <a:p>
            <a:pPr indent="0" marL="0">
              <a:buNone/>
            </a:pPr>
            <a:r>
              <a:rPr lang="en-US" sz="1800" b="1" dirty="0">
                <a:solidFill>
                  <a:schemeClr val="tx2"/>
                </a:solidFill>
              </a:rPr>
              <a:t>Seven document categories</a:t>
            </a:r>
            <a:endParaRPr lang="en-US" sz="1800" dirty="0"/>
          </a:p>
        </p:txBody>
      </p:sp>
      <p:sp>
        <p:nvSpPr>
          <p:cNvPr id="5" name="Official Laws and Sections dot"/>
          <p:cNvSpPr/>
          <p:nvPr/>
        </p:nvSpPr>
        <p:spPr>
          <a:xfrm>
            <a:off x="594360" y="2194560"/>
            <a:ext cx="182880" cy="182880"/>
          </a:xfrm>
          <a:prstGeom prst="ellipse">
            <a:avLst/>
          </a:prstGeom>
          <a:solidFill>
            <a:schemeClr val="accent1"/>
          </a:solidFill>
          <a:ln w="12700">
            <a:solidFill>
              <a:schemeClr val="accent1"/>
            </a:solidFill>
            <a:prstDash val="solid"/>
          </a:ln>
        </p:spPr>
      </p:sp>
      <p:sp>
        <p:nvSpPr>
          <p:cNvPr id="6" name="Official Laws and Sections label"/>
          <p:cNvSpPr txBox="1"/>
          <p:nvPr/>
        </p:nvSpPr>
        <p:spPr>
          <a:xfrm>
            <a:off x="960120" y="2057400"/>
            <a:ext cx="4480560" cy="457200"/>
          </a:xfrm>
          <a:prstGeom prst="rect">
            <a:avLst/>
          </a:prstGeom>
          <a:noFill/>
          <a:ln/>
        </p:spPr>
        <p:txBody>
          <a:bodyPr wrap="square" lIns="0" tIns="0" rIns="0" bIns="0" rtlCol="0" anchor="ctr"/>
          <a:lstStyle/>
          <a:p>
            <a:pPr indent="0" marL="0">
              <a:buNone/>
            </a:pPr>
            <a:r>
              <a:rPr lang="en-US" sz="1600" dirty="0">
                <a:solidFill>
                  <a:schemeClr val="tx1"/>
                </a:solidFill>
              </a:rPr>
              <a:t>Official Laws and Sections</a:t>
            </a:r>
            <a:endParaRPr lang="en-US" sz="1600" dirty="0"/>
          </a:p>
        </p:txBody>
      </p:sp>
      <p:sp>
        <p:nvSpPr>
          <p:cNvPr id="7" name="Circulars and Orders dot"/>
          <p:cNvSpPr/>
          <p:nvPr/>
        </p:nvSpPr>
        <p:spPr>
          <a:xfrm>
            <a:off x="594360" y="2743200"/>
            <a:ext cx="182880" cy="182880"/>
          </a:xfrm>
          <a:prstGeom prst="ellipse">
            <a:avLst/>
          </a:prstGeom>
          <a:solidFill>
            <a:schemeClr val="accent1"/>
          </a:solidFill>
          <a:ln w="12700">
            <a:solidFill>
              <a:schemeClr val="accent1"/>
            </a:solidFill>
            <a:prstDash val="solid"/>
          </a:ln>
        </p:spPr>
      </p:sp>
      <p:sp>
        <p:nvSpPr>
          <p:cNvPr id="8" name="Circulars and Orders label"/>
          <p:cNvSpPr txBox="1"/>
          <p:nvPr/>
        </p:nvSpPr>
        <p:spPr>
          <a:xfrm>
            <a:off x="960120" y="2606040"/>
            <a:ext cx="4480560" cy="457200"/>
          </a:xfrm>
          <a:prstGeom prst="rect">
            <a:avLst/>
          </a:prstGeom>
          <a:noFill/>
          <a:ln/>
        </p:spPr>
        <p:txBody>
          <a:bodyPr wrap="square" lIns="0" tIns="0" rIns="0" bIns="0" rtlCol="0" anchor="ctr"/>
          <a:lstStyle/>
          <a:p>
            <a:pPr indent="0" marL="0">
              <a:buNone/>
            </a:pPr>
            <a:r>
              <a:rPr lang="en-US" sz="1600" dirty="0">
                <a:solidFill>
                  <a:schemeClr val="tx1"/>
                </a:solidFill>
              </a:rPr>
              <a:t>Circulars and Orders</a:t>
            </a:r>
            <a:endParaRPr lang="en-US" sz="1600" dirty="0"/>
          </a:p>
        </p:txBody>
      </p:sp>
      <p:sp>
        <p:nvSpPr>
          <p:cNvPr id="9" name="Seizure Reports dot"/>
          <p:cNvSpPr/>
          <p:nvPr/>
        </p:nvSpPr>
        <p:spPr>
          <a:xfrm>
            <a:off x="594360" y="3291840"/>
            <a:ext cx="182880" cy="182880"/>
          </a:xfrm>
          <a:prstGeom prst="ellipse">
            <a:avLst/>
          </a:prstGeom>
          <a:solidFill>
            <a:schemeClr val="accent1"/>
          </a:solidFill>
          <a:ln w="12700">
            <a:solidFill>
              <a:schemeClr val="accent1"/>
            </a:solidFill>
            <a:prstDash val="solid"/>
          </a:ln>
        </p:spPr>
      </p:sp>
      <p:sp>
        <p:nvSpPr>
          <p:cNvPr id="10" name="Seizure Reports label"/>
          <p:cNvSpPr txBox="1"/>
          <p:nvPr/>
        </p:nvSpPr>
        <p:spPr>
          <a:xfrm>
            <a:off x="960120" y="3154680"/>
            <a:ext cx="4480560" cy="457200"/>
          </a:xfrm>
          <a:prstGeom prst="rect">
            <a:avLst/>
          </a:prstGeom>
          <a:noFill/>
          <a:ln/>
        </p:spPr>
        <p:txBody>
          <a:bodyPr wrap="square" lIns="0" tIns="0" rIns="0" bIns="0" rtlCol="0" anchor="ctr"/>
          <a:lstStyle/>
          <a:p>
            <a:pPr indent="0" marL="0">
              <a:buNone/>
            </a:pPr>
            <a:r>
              <a:rPr lang="en-US" sz="1600" dirty="0">
                <a:solidFill>
                  <a:schemeClr val="tx1"/>
                </a:solidFill>
              </a:rPr>
              <a:t>Seizure Reports</a:t>
            </a:r>
            <a:endParaRPr lang="en-US" sz="1600" dirty="0"/>
          </a:p>
        </p:txBody>
      </p:sp>
      <p:sp>
        <p:nvSpPr>
          <p:cNvPr id="11" name="Investigation Guides and SOPs dot"/>
          <p:cNvSpPr/>
          <p:nvPr/>
        </p:nvSpPr>
        <p:spPr>
          <a:xfrm>
            <a:off x="594360" y="3840480"/>
            <a:ext cx="182880" cy="182880"/>
          </a:xfrm>
          <a:prstGeom prst="ellipse">
            <a:avLst/>
          </a:prstGeom>
          <a:solidFill>
            <a:schemeClr val="accent1"/>
          </a:solidFill>
          <a:ln w="12700">
            <a:solidFill>
              <a:schemeClr val="accent1"/>
            </a:solidFill>
            <a:prstDash val="solid"/>
          </a:ln>
        </p:spPr>
      </p:sp>
      <p:sp>
        <p:nvSpPr>
          <p:cNvPr id="12" name="Investigation Guides and SOPs label"/>
          <p:cNvSpPr txBox="1"/>
          <p:nvPr/>
        </p:nvSpPr>
        <p:spPr>
          <a:xfrm>
            <a:off x="960120" y="3703320"/>
            <a:ext cx="4480560" cy="457200"/>
          </a:xfrm>
          <a:prstGeom prst="rect">
            <a:avLst/>
          </a:prstGeom>
          <a:noFill/>
          <a:ln/>
        </p:spPr>
        <p:txBody>
          <a:bodyPr wrap="square" lIns="0" tIns="0" rIns="0" bIns="0" rtlCol="0" anchor="ctr"/>
          <a:lstStyle/>
          <a:p>
            <a:pPr indent="0" marL="0">
              <a:buNone/>
            </a:pPr>
            <a:r>
              <a:rPr lang="en-US" sz="1600" dirty="0">
                <a:solidFill>
                  <a:schemeClr val="tx1"/>
                </a:solidFill>
              </a:rPr>
              <a:t>Investigation Guides and SOPs</a:t>
            </a:r>
            <a:endParaRPr lang="en-US" sz="1600" dirty="0"/>
          </a:p>
        </p:txBody>
      </p:sp>
      <p:sp>
        <p:nvSpPr>
          <p:cNvPr id="13" name="Reference Materials dot"/>
          <p:cNvSpPr/>
          <p:nvPr/>
        </p:nvSpPr>
        <p:spPr>
          <a:xfrm>
            <a:off x="594360" y="4389120"/>
            <a:ext cx="182880" cy="182880"/>
          </a:xfrm>
          <a:prstGeom prst="ellipse">
            <a:avLst/>
          </a:prstGeom>
          <a:solidFill>
            <a:schemeClr val="accent1"/>
          </a:solidFill>
          <a:ln w="12700">
            <a:solidFill>
              <a:schemeClr val="accent1"/>
            </a:solidFill>
            <a:prstDash val="solid"/>
          </a:ln>
        </p:spPr>
      </p:sp>
      <p:sp>
        <p:nvSpPr>
          <p:cNvPr id="14" name="Reference Materials label"/>
          <p:cNvSpPr txBox="1"/>
          <p:nvPr/>
        </p:nvSpPr>
        <p:spPr>
          <a:xfrm>
            <a:off x="960120" y="4251960"/>
            <a:ext cx="4480560" cy="457200"/>
          </a:xfrm>
          <a:prstGeom prst="rect">
            <a:avLst/>
          </a:prstGeom>
          <a:noFill/>
          <a:ln/>
        </p:spPr>
        <p:txBody>
          <a:bodyPr wrap="square" lIns="0" tIns="0" rIns="0" bIns="0" rtlCol="0" anchor="ctr"/>
          <a:lstStyle/>
          <a:p>
            <a:pPr indent="0" marL="0">
              <a:buNone/>
            </a:pPr>
            <a:r>
              <a:rPr lang="en-US" sz="1600" dirty="0">
                <a:solidFill>
                  <a:schemeClr val="tx1"/>
                </a:solidFill>
              </a:rPr>
              <a:t>Reference Materials</a:t>
            </a:r>
            <a:endParaRPr lang="en-US" sz="1600" dirty="0"/>
          </a:p>
        </p:txBody>
      </p:sp>
      <p:sp>
        <p:nvSpPr>
          <p:cNvPr id="15" name="Historical FIR Records dot"/>
          <p:cNvSpPr/>
          <p:nvPr/>
        </p:nvSpPr>
        <p:spPr>
          <a:xfrm>
            <a:off x="594360" y="4937760"/>
            <a:ext cx="182880" cy="182880"/>
          </a:xfrm>
          <a:prstGeom prst="ellipse">
            <a:avLst/>
          </a:prstGeom>
          <a:solidFill>
            <a:schemeClr val="accent1"/>
          </a:solidFill>
          <a:ln w="12700">
            <a:solidFill>
              <a:schemeClr val="accent1"/>
            </a:solidFill>
            <a:prstDash val="solid"/>
          </a:ln>
        </p:spPr>
      </p:sp>
      <p:sp>
        <p:nvSpPr>
          <p:cNvPr id="16" name="Historical FIR Records label"/>
          <p:cNvSpPr txBox="1"/>
          <p:nvPr/>
        </p:nvSpPr>
        <p:spPr>
          <a:xfrm>
            <a:off x="960120" y="4800600"/>
            <a:ext cx="4480560" cy="457200"/>
          </a:xfrm>
          <a:prstGeom prst="rect">
            <a:avLst/>
          </a:prstGeom>
          <a:noFill/>
          <a:ln/>
        </p:spPr>
        <p:txBody>
          <a:bodyPr wrap="square" lIns="0" tIns="0" rIns="0" bIns="0" rtlCol="0" anchor="ctr"/>
          <a:lstStyle/>
          <a:p>
            <a:pPr indent="0" marL="0">
              <a:buNone/>
            </a:pPr>
            <a:r>
              <a:rPr lang="en-US" sz="1600" dirty="0">
                <a:solidFill>
                  <a:schemeClr val="tx1"/>
                </a:solidFill>
              </a:rPr>
              <a:t>Historical FIR Records</a:t>
            </a:r>
            <a:endParaRPr lang="en-US" sz="1600" dirty="0"/>
          </a:p>
        </p:txBody>
      </p:sp>
      <p:sp>
        <p:nvSpPr>
          <p:cNvPr id="17" name="Approved Evidence dot"/>
          <p:cNvSpPr/>
          <p:nvPr/>
        </p:nvSpPr>
        <p:spPr>
          <a:xfrm>
            <a:off x="594360" y="5486400"/>
            <a:ext cx="182880" cy="182880"/>
          </a:xfrm>
          <a:prstGeom prst="ellipse">
            <a:avLst/>
          </a:prstGeom>
          <a:solidFill>
            <a:schemeClr val="accent1"/>
          </a:solidFill>
          <a:ln w="12700">
            <a:solidFill>
              <a:schemeClr val="accent1"/>
            </a:solidFill>
            <a:prstDash val="solid"/>
          </a:ln>
        </p:spPr>
      </p:sp>
      <p:sp>
        <p:nvSpPr>
          <p:cNvPr id="18" name="Approved Evidence label"/>
          <p:cNvSpPr txBox="1"/>
          <p:nvPr/>
        </p:nvSpPr>
        <p:spPr>
          <a:xfrm>
            <a:off x="960120" y="5349240"/>
            <a:ext cx="4480560" cy="457200"/>
          </a:xfrm>
          <a:prstGeom prst="rect">
            <a:avLst/>
          </a:prstGeom>
          <a:noFill/>
          <a:ln/>
        </p:spPr>
        <p:txBody>
          <a:bodyPr wrap="square" lIns="0" tIns="0" rIns="0" bIns="0" rtlCol="0" anchor="ctr"/>
          <a:lstStyle/>
          <a:p>
            <a:pPr indent="0" marL="0">
              <a:buNone/>
            </a:pPr>
            <a:r>
              <a:rPr lang="en-US" sz="1600" dirty="0">
                <a:solidFill>
                  <a:schemeClr val="tx1"/>
                </a:solidFill>
              </a:rPr>
              <a:t>Approved Evidence</a:t>
            </a:r>
            <a:endParaRPr lang="en-US" sz="1600" dirty="0"/>
          </a:p>
        </p:txBody>
      </p:sp>
      <p:sp>
        <p:nvSpPr>
          <p:cNvPr id="19" name="badges caption"/>
          <p:cNvSpPr txBox="1"/>
          <p:nvPr/>
        </p:nvSpPr>
        <p:spPr>
          <a:xfrm>
            <a:off x="548640" y="5943600"/>
            <a:ext cx="5120640" cy="365760"/>
          </a:xfrm>
          <a:prstGeom prst="rect">
            <a:avLst/>
          </a:prstGeom>
          <a:noFill/>
          <a:ln/>
        </p:spPr>
        <p:txBody>
          <a:bodyPr wrap="square" lIns="0" tIns="0" rIns="0" bIns="0" rtlCol="0" anchor="t"/>
          <a:lstStyle/>
          <a:p>
            <a:pPr indent="0" marL="0">
              <a:buNone/>
            </a:pPr>
            <a:r>
              <a:rPr lang="en-US" sz="1200" i="1" dirty="0">
                <a:solidFill>
                  <a:schemeClr val="accent6"/>
                </a:solidFill>
              </a:rPr>
              <a:t>Source badges mark each text as Official, Secondary, Synthetic or Unverified.</a:t>
            </a:r>
            <a:endParaRPr lang="en-US" sz="1200" dirty="0"/>
          </a:p>
        </p:txBody>
      </p:sp>
      <p:sp>
        <p:nvSpPr>
          <p:cNvPr id="20" name="stat Knowledge Base documents value"/>
          <p:cNvSpPr txBox="1"/>
          <p:nvPr/>
        </p:nvSpPr>
        <p:spPr>
          <a:xfrm>
            <a:off x="5943600" y="1554480"/>
            <a:ext cx="2103120" cy="868680"/>
          </a:xfrm>
          <a:prstGeom prst="rect">
            <a:avLst/>
          </a:prstGeom>
          <a:noFill/>
          <a:ln/>
        </p:spPr>
        <p:txBody>
          <a:bodyPr wrap="square" lIns="0" tIns="0" rIns="0" bIns="0" rtlCol="0" anchor="t"/>
          <a:lstStyle/>
          <a:p>
            <a:pPr indent="0" marL="0">
              <a:buNone/>
            </a:pPr>
            <a:r>
              <a:rPr lang="en-US" sz="4800" b="1" dirty="0">
                <a:solidFill>
                  <a:schemeClr val="accent1"/>
                </a:solidFill>
              </a:rPr>
              <a:t>52</a:t>
            </a:r>
            <a:endParaRPr lang="en-US" sz="4800" dirty="0"/>
          </a:p>
        </p:txBody>
      </p:sp>
      <p:sp>
        <p:nvSpPr>
          <p:cNvPr id="21" name="stat Knowledge Base documents label"/>
          <p:cNvSpPr txBox="1"/>
          <p:nvPr/>
        </p:nvSpPr>
        <p:spPr>
          <a:xfrm>
            <a:off x="5943600" y="2423160"/>
            <a:ext cx="2377440" cy="548640"/>
          </a:xfrm>
          <a:prstGeom prst="rect">
            <a:avLst/>
          </a:prstGeom>
          <a:noFill/>
          <a:ln/>
        </p:spPr>
        <p:txBody>
          <a:bodyPr wrap="square" lIns="0" tIns="0" rIns="0" bIns="0" rtlCol="0" anchor="t"/>
          <a:lstStyle/>
          <a:p>
            <a:pPr indent="0" marL="0">
              <a:buNone/>
            </a:pPr>
            <a:r>
              <a:rPr lang="en-US" sz="1300" dirty="0">
                <a:solidFill>
                  <a:schemeClr val="accent6"/>
                </a:solidFill>
              </a:rPr>
              <a:t>Knowledge Base documents</a:t>
            </a:r>
            <a:endParaRPr lang="en-US" sz="1300" dirty="0"/>
          </a:p>
        </p:txBody>
      </p:sp>
      <p:sp>
        <p:nvSpPr>
          <p:cNvPr id="22" name="stat official Acts: BNS, BNSS, BSA, Constitution value"/>
          <p:cNvSpPr txBox="1"/>
          <p:nvPr/>
        </p:nvSpPr>
        <p:spPr>
          <a:xfrm>
            <a:off x="5943600" y="3017520"/>
            <a:ext cx="2103120" cy="868680"/>
          </a:xfrm>
          <a:prstGeom prst="rect">
            <a:avLst/>
          </a:prstGeom>
          <a:noFill/>
          <a:ln/>
        </p:spPr>
        <p:txBody>
          <a:bodyPr wrap="square" lIns="0" tIns="0" rIns="0" bIns="0" rtlCol="0" anchor="t"/>
          <a:lstStyle/>
          <a:p>
            <a:pPr indent="0" marL="0">
              <a:buNone/>
            </a:pPr>
            <a:r>
              <a:rPr lang="en-US" sz="4800" b="1" dirty="0">
                <a:solidFill>
                  <a:schemeClr val="accent1"/>
                </a:solidFill>
              </a:rPr>
              <a:t>4</a:t>
            </a:r>
            <a:endParaRPr lang="en-US" sz="4800" dirty="0"/>
          </a:p>
        </p:txBody>
      </p:sp>
      <p:sp>
        <p:nvSpPr>
          <p:cNvPr id="23" name="stat official Acts: BNS, BNSS, BSA, Constitution label"/>
          <p:cNvSpPr txBox="1"/>
          <p:nvPr/>
        </p:nvSpPr>
        <p:spPr>
          <a:xfrm>
            <a:off x="5943600" y="3886200"/>
            <a:ext cx="2377440" cy="548640"/>
          </a:xfrm>
          <a:prstGeom prst="rect">
            <a:avLst/>
          </a:prstGeom>
          <a:noFill/>
          <a:ln/>
        </p:spPr>
        <p:txBody>
          <a:bodyPr wrap="square" lIns="0" tIns="0" rIns="0" bIns="0" rtlCol="0" anchor="t"/>
          <a:lstStyle/>
          <a:p>
            <a:pPr indent="0" marL="0">
              <a:buNone/>
            </a:pPr>
            <a:r>
              <a:rPr lang="en-US" sz="1300" dirty="0">
                <a:solidFill>
                  <a:schemeClr val="accent6"/>
                </a:solidFill>
              </a:rPr>
              <a:t>official Acts: BNS, BNSS, BSA, Constitution</a:t>
            </a:r>
            <a:endParaRPr lang="en-US" sz="1300" dirty="0"/>
          </a:p>
        </p:txBody>
      </p:sp>
      <p:sp>
        <p:nvSpPr>
          <p:cNvPr id="24" name="stat searchable passages value"/>
          <p:cNvSpPr txBox="1"/>
          <p:nvPr/>
        </p:nvSpPr>
        <p:spPr>
          <a:xfrm>
            <a:off x="5943600" y="4480560"/>
            <a:ext cx="2103120" cy="868680"/>
          </a:xfrm>
          <a:prstGeom prst="rect">
            <a:avLst/>
          </a:prstGeom>
          <a:noFill/>
          <a:ln/>
        </p:spPr>
        <p:txBody>
          <a:bodyPr wrap="square" lIns="0" tIns="0" rIns="0" bIns="0" rtlCol="0" anchor="t"/>
          <a:lstStyle/>
          <a:p>
            <a:pPr indent="0" marL="0">
              <a:buNone/>
            </a:pPr>
            <a:r>
              <a:rPr lang="en-US" sz="4800" b="1" dirty="0">
                <a:solidFill>
                  <a:schemeClr val="accent1"/>
                </a:solidFill>
              </a:rPr>
              <a:t>4,246</a:t>
            </a:r>
            <a:endParaRPr lang="en-US" sz="4800" dirty="0"/>
          </a:p>
        </p:txBody>
      </p:sp>
      <p:sp>
        <p:nvSpPr>
          <p:cNvPr id="25" name="stat searchable passages label"/>
          <p:cNvSpPr txBox="1"/>
          <p:nvPr/>
        </p:nvSpPr>
        <p:spPr>
          <a:xfrm>
            <a:off x="5943600" y="5349240"/>
            <a:ext cx="2377440" cy="548640"/>
          </a:xfrm>
          <a:prstGeom prst="rect">
            <a:avLst/>
          </a:prstGeom>
          <a:noFill/>
          <a:ln/>
        </p:spPr>
        <p:txBody>
          <a:bodyPr wrap="square" lIns="0" tIns="0" rIns="0" bIns="0" rtlCol="0" anchor="t"/>
          <a:lstStyle/>
          <a:p>
            <a:pPr indent="0" marL="0">
              <a:buNone/>
            </a:pPr>
            <a:r>
              <a:rPr lang="en-US" sz="1300" dirty="0">
                <a:solidFill>
                  <a:schemeClr val="accent6"/>
                </a:solidFill>
              </a:rPr>
              <a:t>searchable passages</a:t>
            </a:r>
            <a:endParaRPr lang="en-US" sz="1300" dirty="0"/>
          </a:p>
        </p:txBody>
      </p:sp>
      <p:graphicFrame>
        <p:nvGraphicFramePr>
          <p:cNvPr id="26" name="semantic coverage chart" descr=""/>
          <p:cNvGraphicFramePr/>
          <p:nvPr/>
        </p:nvGraphicFramePr>
        <p:xfrm>
          <a:off x="8229600" y="1463040"/>
          <a:ext cx="3429000" cy="4023360"/>
        </p:xfrm>
        <a:graphic xmlns:a="http://schemas.openxmlformats.org/drawingml/2006/main">
          <a:graphicData uri="http://schemas.openxmlformats.org/drawingml/2006/chart">
            <c:chart xmlns:c="http://schemas.openxmlformats.org/drawingml/2006/chart" r:id="rId1"/>
          </a:graphicData>
        </a:graphic>
      </p:graphicFrame>
      <p:sp>
        <p:nvSpPr>
          <p:cNvPr id="27" name="coverage value"/>
          <p:cNvSpPr txBox="1"/>
          <p:nvPr/>
        </p:nvSpPr>
        <p:spPr>
          <a:xfrm>
            <a:off x="9052560" y="2880360"/>
            <a:ext cx="1783080" cy="640080"/>
          </a:xfrm>
          <a:prstGeom prst="rect">
            <a:avLst/>
          </a:prstGeom>
          <a:noFill/>
          <a:ln/>
        </p:spPr>
        <p:txBody>
          <a:bodyPr wrap="square" lIns="0" tIns="0" rIns="0" bIns="0" rtlCol="0" anchor="t"/>
          <a:lstStyle/>
          <a:p>
            <a:pPr algn="ctr" indent="0" marL="0">
              <a:buNone/>
            </a:pPr>
            <a:r>
              <a:rPr lang="en-US" sz="3000" b="1" dirty="0">
                <a:solidFill>
                  <a:schemeClr val="accent1"/>
                </a:solidFill>
              </a:rPr>
              <a:t>39%</a:t>
            </a:r>
            <a:endParaRPr lang="en-US" sz="3000" dirty="0"/>
          </a:p>
        </p:txBody>
      </p:sp>
      <p:sp>
        <p:nvSpPr>
          <p:cNvPr id="28" name="coverage label"/>
          <p:cNvSpPr txBox="1"/>
          <p:nvPr/>
        </p:nvSpPr>
        <p:spPr>
          <a:xfrm>
            <a:off x="9052560" y="3474720"/>
            <a:ext cx="1783080" cy="320040"/>
          </a:xfrm>
          <a:prstGeom prst="rect">
            <a:avLst/>
          </a:prstGeom>
          <a:noFill/>
          <a:ln/>
        </p:spPr>
        <p:txBody>
          <a:bodyPr wrap="square" lIns="0" tIns="0" rIns="0" bIns="0" rtlCol="0" anchor="t"/>
          <a:lstStyle/>
          <a:p>
            <a:pPr algn="ctr" indent="0" marL="0">
              <a:buNone/>
            </a:pPr>
            <a:r>
              <a:rPr lang="en-US" sz="1200" dirty="0">
                <a:solidFill>
                  <a:schemeClr val="accent6"/>
                </a:solidFill>
              </a:rPr>
              <a:t>with vectors</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nchor="ctr"/>
          <a:lstStyle/>
          <a:p>
            <a:pPr algn="l" indent="0" marL="0">
              <a:buNone/>
            </a:pPr>
            <a:r>
              <a:rPr lang="en-US" sz="3200" b="1" dirty="0">
                <a:solidFill>
                  <a:schemeClr val="tx2"/>
                </a:solidFill>
              </a:rPr>
              <a:t>English, Telugu and Hindi throughout</a:t>
            </a:r>
            <a:endParaRPr lang="en-US" sz="3200" dirty="0"/>
          </a:p>
        </p:txBody>
      </p:sp>
      <p:sp>
        <p:nvSpPr>
          <p:cNvPr id="4" name="0 language card"/>
          <p:cNvSpPr/>
          <p:nvPr/>
        </p:nvSpPr>
        <p:spPr>
          <a:xfrm>
            <a:off x="548640" y="1554480"/>
            <a:ext cx="3520440" cy="2926080"/>
          </a:xfrm>
          <a:prstGeom prst="roundRect">
            <a:avLst>
              <a:gd name="adj" fmla="val 3750"/>
            </a:avLst>
          </a:prstGeom>
          <a:solidFill>
            <a:schemeClr val="bg2"/>
          </a:solidFill>
          <a:ln w="12700">
            <a:solidFill>
              <a:schemeClr val="bg2"/>
            </a:solidFill>
            <a:prstDash val="solid"/>
          </a:ln>
        </p:spPr>
      </p:sp>
      <p:sp>
        <p:nvSpPr>
          <p:cNvPr id="5" name="language 0 name"/>
          <p:cNvSpPr txBox="1"/>
          <p:nvPr/>
        </p:nvSpPr>
        <p:spPr>
          <a:xfrm>
            <a:off x="868680" y="1874520"/>
            <a:ext cx="2880360" cy="731520"/>
          </a:xfrm>
          <a:prstGeom prst="rect">
            <a:avLst/>
          </a:prstGeom>
          <a:noFill/>
          <a:ln/>
        </p:spPr>
        <p:txBody>
          <a:bodyPr wrap="square" lIns="0" tIns="0" rIns="0" bIns="0" rtlCol="0" anchor="t"/>
          <a:lstStyle/>
          <a:p>
            <a:pPr indent="0" marL="0">
              <a:buNone/>
            </a:pPr>
            <a:r>
              <a:rPr lang="en-US" sz="3200" b="1" dirty="0">
                <a:solidFill>
                  <a:schemeClr val="accent1"/>
                </a:solidFill>
              </a:rPr>
              <a:t>English</a:t>
            </a:r>
            <a:endParaRPr lang="en-US" sz="3200" dirty="0"/>
          </a:p>
        </p:txBody>
      </p:sp>
      <p:sp>
        <p:nvSpPr>
          <p:cNvPr id="6" name="language 0 word"/>
          <p:cNvSpPr txBox="1"/>
          <p:nvPr/>
        </p:nvSpPr>
        <p:spPr>
          <a:xfrm>
            <a:off x="868680" y="2651760"/>
            <a:ext cx="2880360" cy="548640"/>
          </a:xfrm>
          <a:prstGeom prst="rect">
            <a:avLst/>
          </a:prstGeom>
          <a:noFill/>
          <a:ln/>
        </p:spPr>
        <p:txBody>
          <a:bodyPr wrap="square" lIns="0" tIns="0" rIns="0" bIns="0" rtlCol="0" anchor="t"/>
          <a:lstStyle/>
          <a:p>
            <a:pPr indent="0" marL="0">
              <a:buNone/>
            </a:pPr>
            <a:r>
              <a:rPr lang="en-US" sz="2000" dirty="0">
                <a:solidFill>
                  <a:schemeClr val="accent2"/>
                </a:solidFill>
              </a:rPr>
              <a:t>Summary</a:t>
            </a:r>
            <a:endParaRPr lang="en-US" sz="2000" dirty="0"/>
          </a:p>
        </p:txBody>
      </p:sp>
      <p:sp>
        <p:nvSpPr>
          <p:cNvPr id="7" name="language 0 text"/>
          <p:cNvSpPr txBox="1"/>
          <p:nvPr/>
        </p:nvSpPr>
        <p:spPr>
          <a:xfrm>
            <a:off x="868680" y="3337560"/>
            <a:ext cx="2880360" cy="1005840"/>
          </a:xfrm>
          <a:prstGeom prst="rect">
            <a:avLst/>
          </a:prstGeom>
          <a:noFill/>
          <a:ln/>
        </p:spPr>
        <p:txBody>
          <a:bodyPr wrap="square" lIns="0" tIns="0" rIns="0" bIns="0" rtlCol="0" anchor="t"/>
          <a:lstStyle/>
          <a:p>
            <a:pPr indent="0" marL="0">
              <a:buNone/>
            </a:pPr>
            <a:r>
              <a:rPr lang="en-US" sz="1500" dirty="0">
                <a:solidFill>
                  <a:schemeClr val="tx1"/>
                </a:solidFill>
              </a:rPr>
              <a:t>Officer interface, questions, summaries and voice</a:t>
            </a:r>
            <a:endParaRPr lang="en-US" sz="1500" dirty="0"/>
          </a:p>
        </p:txBody>
      </p:sp>
      <p:sp>
        <p:nvSpPr>
          <p:cNvPr id="8" name="1 language card"/>
          <p:cNvSpPr/>
          <p:nvPr/>
        </p:nvSpPr>
        <p:spPr>
          <a:xfrm>
            <a:off x="4297680" y="1554480"/>
            <a:ext cx="3520440" cy="2926080"/>
          </a:xfrm>
          <a:prstGeom prst="roundRect">
            <a:avLst>
              <a:gd name="adj" fmla="val 3750"/>
            </a:avLst>
          </a:prstGeom>
          <a:solidFill>
            <a:schemeClr val="bg2"/>
          </a:solidFill>
          <a:ln w="12700">
            <a:solidFill>
              <a:schemeClr val="bg2"/>
            </a:solidFill>
            <a:prstDash val="solid"/>
          </a:ln>
        </p:spPr>
      </p:sp>
      <p:sp>
        <p:nvSpPr>
          <p:cNvPr id="9" name="language 1 name"/>
          <p:cNvSpPr txBox="1"/>
          <p:nvPr/>
        </p:nvSpPr>
        <p:spPr>
          <a:xfrm>
            <a:off x="4617720" y="1874520"/>
            <a:ext cx="2880360" cy="731520"/>
          </a:xfrm>
          <a:prstGeom prst="rect">
            <a:avLst/>
          </a:prstGeom>
          <a:noFill/>
          <a:ln/>
        </p:spPr>
        <p:txBody>
          <a:bodyPr wrap="square" lIns="0" tIns="0" rIns="0" bIns="0" rtlCol="0" anchor="t"/>
          <a:lstStyle/>
          <a:p>
            <a:pPr indent="0" marL="0">
              <a:buNone/>
            </a:pPr>
            <a:r>
              <a:rPr lang="en-US" sz="3200" b="1" dirty="0">
                <a:solidFill>
                  <a:schemeClr val="accent1"/>
                </a:solidFill>
                <a:latin typeface="Nirmala UI" pitchFamily="34" charset="0"/>
                <a:ea typeface="Nirmala UI" pitchFamily="34" charset="-122"/>
                <a:cs typeface="Nirmala UI" pitchFamily="34" charset="-120"/>
              </a:rPr>
              <a:t>తెలుగు</a:t>
            </a:r>
            <a:endParaRPr lang="en-US" sz="3200" dirty="0"/>
          </a:p>
        </p:txBody>
      </p:sp>
      <p:sp>
        <p:nvSpPr>
          <p:cNvPr id="10" name="language 1 word"/>
          <p:cNvSpPr txBox="1"/>
          <p:nvPr/>
        </p:nvSpPr>
        <p:spPr>
          <a:xfrm>
            <a:off x="4617720" y="2651760"/>
            <a:ext cx="2880360" cy="548640"/>
          </a:xfrm>
          <a:prstGeom prst="rect">
            <a:avLst/>
          </a:prstGeom>
          <a:noFill/>
          <a:ln/>
        </p:spPr>
        <p:txBody>
          <a:bodyPr wrap="square" lIns="0" tIns="0" rIns="0" bIns="0" rtlCol="0" anchor="t"/>
          <a:lstStyle/>
          <a:p>
            <a:pPr indent="0" marL="0">
              <a:buNone/>
            </a:pPr>
            <a:r>
              <a:rPr lang="en-US" sz="2000" dirty="0">
                <a:solidFill>
                  <a:schemeClr val="accent2"/>
                </a:solidFill>
                <a:latin typeface="Nirmala UI" pitchFamily="34" charset="0"/>
                <a:ea typeface="Nirmala UI" pitchFamily="34" charset="-122"/>
                <a:cs typeface="Nirmala UI" pitchFamily="34" charset="-120"/>
              </a:rPr>
              <a:t>సారాంశం</a:t>
            </a:r>
            <a:endParaRPr lang="en-US" sz="2000" dirty="0"/>
          </a:p>
        </p:txBody>
      </p:sp>
      <p:sp>
        <p:nvSpPr>
          <p:cNvPr id="11" name="language 1 text"/>
          <p:cNvSpPr txBox="1"/>
          <p:nvPr/>
        </p:nvSpPr>
        <p:spPr>
          <a:xfrm>
            <a:off x="4617720" y="3337560"/>
            <a:ext cx="2880360" cy="1005840"/>
          </a:xfrm>
          <a:prstGeom prst="rect">
            <a:avLst/>
          </a:prstGeom>
          <a:noFill/>
          <a:ln/>
        </p:spPr>
        <p:txBody>
          <a:bodyPr wrap="square" lIns="0" tIns="0" rIns="0" bIns="0" rtlCol="0" anchor="t"/>
          <a:lstStyle/>
          <a:p>
            <a:pPr indent="0" marL="0">
              <a:buNone/>
            </a:pPr>
            <a:r>
              <a:rPr lang="en-US" sz="1500" dirty="0">
                <a:solidFill>
                  <a:schemeClr val="tx1"/>
                </a:solidFill>
              </a:rPr>
              <a:t>Telugu questions, summaries, spoken answers and video guide</a:t>
            </a:r>
            <a:endParaRPr lang="en-US" sz="1500" dirty="0"/>
          </a:p>
        </p:txBody>
      </p:sp>
      <p:sp>
        <p:nvSpPr>
          <p:cNvPr id="12" name="2 language card"/>
          <p:cNvSpPr/>
          <p:nvPr/>
        </p:nvSpPr>
        <p:spPr>
          <a:xfrm>
            <a:off x="8046720" y="1554480"/>
            <a:ext cx="3520440" cy="2926080"/>
          </a:xfrm>
          <a:prstGeom prst="roundRect">
            <a:avLst>
              <a:gd name="adj" fmla="val 3750"/>
            </a:avLst>
          </a:prstGeom>
          <a:solidFill>
            <a:schemeClr val="bg2"/>
          </a:solidFill>
          <a:ln w="12700">
            <a:solidFill>
              <a:schemeClr val="bg2"/>
            </a:solidFill>
            <a:prstDash val="solid"/>
          </a:ln>
        </p:spPr>
      </p:sp>
      <p:sp>
        <p:nvSpPr>
          <p:cNvPr id="13" name="language 2 name"/>
          <p:cNvSpPr txBox="1"/>
          <p:nvPr/>
        </p:nvSpPr>
        <p:spPr>
          <a:xfrm>
            <a:off x="8366760" y="1874520"/>
            <a:ext cx="2880360" cy="731520"/>
          </a:xfrm>
          <a:prstGeom prst="rect">
            <a:avLst/>
          </a:prstGeom>
          <a:noFill/>
          <a:ln/>
        </p:spPr>
        <p:txBody>
          <a:bodyPr wrap="square" lIns="0" tIns="0" rIns="0" bIns="0" rtlCol="0" anchor="t"/>
          <a:lstStyle/>
          <a:p>
            <a:pPr indent="0" marL="0">
              <a:buNone/>
            </a:pPr>
            <a:r>
              <a:rPr lang="en-US" sz="3200" b="1" dirty="0">
                <a:solidFill>
                  <a:schemeClr val="accent1"/>
                </a:solidFill>
                <a:latin typeface="Nirmala UI" pitchFamily="34" charset="0"/>
                <a:ea typeface="Nirmala UI" pitchFamily="34" charset="-122"/>
                <a:cs typeface="Nirmala UI" pitchFamily="34" charset="-120"/>
              </a:rPr>
              <a:t>हिंदी</a:t>
            </a:r>
            <a:endParaRPr lang="en-US" sz="3200" dirty="0"/>
          </a:p>
        </p:txBody>
      </p:sp>
      <p:sp>
        <p:nvSpPr>
          <p:cNvPr id="14" name="language 2 word"/>
          <p:cNvSpPr txBox="1"/>
          <p:nvPr/>
        </p:nvSpPr>
        <p:spPr>
          <a:xfrm>
            <a:off x="8366760" y="2651760"/>
            <a:ext cx="2880360" cy="548640"/>
          </a:xfrm>
          <a:prstGeom prst="rect">
            <a:avLst/>
          </a:prstGeom>
          <a:noFill/>
          <a:ln/>
        </p:spPr>
        <p:txBody>
          <a:bodyPr wrap="square" lIns="0" tIns="0" rIns="0" bIns="0" rtlCol="0" anchor="t"/>
          <a:lstStyle/>
          <a:p>
            <a:pPr indent="0" marL="0">
              <a:buNone/>
            </a:pPr>
            <a:r>
              <a:rPr lang="en-US" sz="2000" dirty="0">
                <a:solidFill>
                  <a:schemeClr val="accent2"/>
                </a:solidFill>
                <a:latin typeface="Nirmala UI" pitchFamily="34" charset="0"/>
                <a:ea typeface="Nirmala UI" pitchFamily="34" charset="-122"/>
                <a:cs typeface="Nirmala UI" pitchFamily="34" charset="-120"/>
              </a:rPr>
              <a:t>सारांश</a:t>
            </a:r>
            <a:endParaRPr lang="en-US" sz="2000" dirty="0"/>
          </a:p>
        </p:txBody>
      </p:sp>
      <p:sp>
        <p:nvSpPr>
          <p:cNvPr id="15" name="language 2 text"/>
          <p:cNvSpPr txBox="1"/>
          <p:nvPr/>
        </p:nvSpPr>
        <p:spPr>
          <a:xfrm>
            <a:off x="8366760" y="3337560"/>
            <a:ext cx="2880360" cy="1005840"/>
          </a:xfrm>
          <a:prstGeom prst="rect">
            <a:avLst/>
          </a:prstGeom>
          <a:noFill/>
          <a:ln/>
        </p:spPr>
        <p:txBody>
          <a:bodyPr wrap="square" lIns="0" tIns="0" rIns="0" bIns="0" rtlCol="0" anchor="t"/>
          <a:lstStyle/>
          <a:p>
            <a:pPr indent="0" marL="0">
              <a:buNone/>
            </a:pPr>
            <a:r>
              <a:rPr lang="en-US" sz="1500" dirty="0">
                <a:solidFill>
                  <a:schemeClr val="tx1"/>
                </a:solidFill>
              </a:rPr>
              <a:t>Hindi questions, summaries and spoken answers</a:t>
            </a:r>
            <a:endParaRPr lang="en-US" sz="1500" dirty="0"/>
          </a:p>
        </p:txBody>
      </p:sp>
      <p:sp>
        <p:nvSpPr>
          <p:cNvPr id="16" name="feature 0 circle"/>
          <p:cNvSpPr/>
          <p:nvPr/>
        </p:nvSpPr>
        <p:spPr>
          <a:xfrm>
            <a:off x="548640" y="4846320"/>
            <a:ext cx="685800" cy="685800"/>
          </a:xfrm>
          <a:prstGeom prst="ellipse">
            <a:avLst/>
          </a:prstGeom>
          <a:solidFill>
            <a:schemeClr val="accent3"/>
          </a:solidFill>
          <a:ln w="12700">
            <a:solidFill>
              <a:schemeClr val="accent3"/>
            </a:solidFill>
            <a:prstDash val="solid"/>
          </a:ln>
        </p:spPr>
      </p:sp>
      <p:pic>
        <p:nvPicPr>
          <p:cNvPr id="17" name="feature 0 icon" descr="feature 0">    </p:cNvPr>
          <p:cNvPicPr>
            <a:picLocks noChangeAspect="1"/>
          </p:cNvPicPr>
          <p:nvPr/>
        </p:nvPicPr>
        <p:blipFill>
          <a:blip r:embed="rId1"/>
          <a:stretch>
            <a:fillRect/>
          </a:stretch>
        </p:blipFill>
        <p:spPr>
          <a:xfrm>
            <a:off x="713232" y="5010912"/>
            <a:ext cx="356616" cy="356616"/>
          </a:xfrm>
          <a:prstGeom prst="rect">
            <a:avLst/>
          </a:prstGeom>
        </p:spPr>
      </p:pic>
      <p:sp>
        <p:nvSpPr>
          <p:cNvPr id="18" name="feature 0 text"/>
          <p:cNvSpPr txBox="1"/>
          <p:nvPr/>
        </p:nvSpPr>
        <p:spPr>
          <a:xfrm>
            <a:off x="1417320" y="4846320"/>
            <a:ext cx="2697480" cy="868680"/>
          </a:xfrm>
          <a:prstGeom prst="rect">
            <a:avLst/>
          </a:prstGeom>
          <a:noFill/>
          <a:ln/>
        </p:spPr>
        <p:txBody>
          <a:bodyPr wrap="square" lIns="0" tIns="0" rIns="0" bIns="0" rtlCol="0" anchor="ctr"/>
          <a:lstStyle/>
          <a:p>
            <a:pPr indent="0" marL="0">
              <a:buNone/>
            </a:pPr>
            <a:r>
              <a:rPr lang="en-US" sz="1400" dirty="0">
                <a:solidFill>
                  <a:schemeClr val="tx1"/>
                </a:solidFill>
              </a:rPr>
              <a:t>46 records summarised in all three languages, with citations</a:t>
            </a:r>
            <a:endParaRPr lang="en-US" sz="1400" dirty="0"/>
          </a:p>
        </p:txBody>
      </p:sp>
      <p:sp>
        <p:nvSpPr>
          <p:cNvPr id="19" name="feature 1 circle"/>
          <p:cNvSpPr/>
          <p:nvPr/>
        </p:nvSpPr>
        <p:spPr>
          <a:xfrm>
            <a:off x="4297680" y="4846320"/>
            <a:ext cx="685800" cy="685800"/>
          </a:xfrm>
          <a:prstGeom prst="ellipse">
            <a:avLst/>
          </a:prstGeom>
          <a:solidFill>
            <a:schemeClr val="accent3"/>
          </a:solidFill>
          <a:ln w="12700">
            <a:solidFill>
              <a:schemeClr val="accent3"/>
            </a:solidFill>
            <a:prstDash val="solid"/>
          </a:ln>
        </p:spPr>
      </p:sp>
      <p:pic>
        <p:nvPicPr>
          <p:cNvPr id="20" name="feature 1 icon" descr="feature 1">    </p:cNvPr>
          <p:cNvPicPr>
            <a:picLocks noChangeAspect="1"/>
          </p:cNvPicPr>
          <p:nvPr/>
        </p:nvPicPr>
        <p:blipFill>
          <a:blip r:embed="rId2"/>
          <a:stretch>
            <a:fillRect/>
          </a:stretch>
        </p:blipFill>
        <p:spPr>
          <a:xfrm>
            <a:off x="4462272" y="5010912"/>
            <a:ext cx="356616" cy="356616"/>
          </a:xfrm>
          <a:prstGeom prst="rect">
            <a:avLst/>
          </a:prstGeom>
        </p:spPr>
      </p:pic>
      <p:sp>
        <p:nvSpPr>
          <p:cNvPr id="21" name="feature 1 text"/>
          <p:cNvSpPr txBox="1"/>
          <p:nvPr/>
        </p:nvSpPr>
        <p:spPr>
          <a:xfrm>
            <a:off x="5166360" y="4846320"/>
            <a:ext cx="2697480" cy="868680"/>
          </a:xfrm>
          <a:prstGeom prst="rect">
            <a:avLst/>
          </a:prstGeom>
          <a:noFill/>
          <a:ln/>
        </p:spPr>
        <p:txBody>
          <a:bodyPr wrap="square" lIns="0" tIns="0" rIns="0" bIns="0" rtlCol="0" anchor="ctr"/>
          <a:lstStyle/>
          <a:p>
            <a:pPr indent="0" marL="0">
              <a:buNone/>
            </a:pPr>
            <a:r>
              <a:rPr lang="en-US" sz="1400" dirty="0">
                <a:solidFill>
                  <a:schemeClr val="tx1"/>
                </a:solidFill>
              </a:rPr>
              <a:t>Voice assistant answers aloud in the officer's language</a:t>
            </a:r>
            <a:endParaRPr lang="en-US" sz="1400" dirty="0"/>
          </a:p>
        </p:txBody>
      </p:sp>
      <p:sp>
        <p:nvSpPr>
          <p:cNvPr id="22" name="feature 2 circle"/>
          <p:cNvSpPr/>
          <p:nvPr/>
        </p:nvSpPr>
        <p:spPr>
          <a:xfrm>
            <a:off x="8046720" y="4846320"/>
            <a:ext cx="685800" cy="685800"/>
          </a:xfrm>
          <a:prstGeom prst="ellipse">
            <a:avLst/>
          </a:prstGeom>
          <a:solidFill>
            <a:schemeClr val="accent3"/>
          </a:solidFill>
          <a:ln w="12700">
            <a:solidFill>
              <a:schemeClr val="accent3"/>
            </a:solidFill>
            <a:prstDash val="solid"/>
          </a:ln>
        </p:spPr>
      </p:sp>
      <p:pic>
        <p:nvPicPr>
          <p:cNvPr id="23" name="feature 2 icon" descr="feature 2">    </p:cNvPr>
          <p:cNvPicPr>
            <a:picLocks noChangeAspect="1"/>
          </p:cNvPicPr>
          <p:nvPr/>
        </p:nvPicPr>
        <p:blipFill>
          <a:blip r:embed="rId3"/>
          <a:stretch>
            <a:fillRect/>
          </a:stretch>
        </p:blipFill>
        <p:spPr>
          <a:xfrm>
            <a:off x="8211312" y="5010912"/>
            <a:ext cx="356616" cy="356616"/>
          </a:xfrm>
          <a:prstGeom prst="rect">
            <a:avLst/>
          </a:prstGeom>
        </p:spPr>
      </p:pic>
      <p:sp>
        <p:nvSpPr>
          <p:cNvPr id="24" name="feature 2 text"/>
          <p:cNvSpPr txBox="1"/>
          <p:nvPr/>
        </p:nvSpPr>
        <p:spPr>
          <a:xfrm>
            <a:off x="8915400" y="4846320"/>
            <a:ext cx="2697480" cy="868680"/>
          </a:xfrm>
          <a:prstGeom prst="rect">
            <a:avLst/>
          </a:prstGeom>
          <a:noFill/>
          <a:ln/>
        </p:spPr>
        <p:txBody>
          <a:bodyPr wrap="square" lIns="0" tIns="0" rIns="0" bIns="0" rtlCol="0" anchor="ctr"/>
          <a:lstStyle/>
          <a:p>
            <a:pPr indent="0" marL="0">
              <a:buNone/>
            </a:pPr>
            <a:r>
              <a:rPr lang="en-US" sz="1400" dirty="0">
                <a:solidFill>
                  <a:schemeClr val="tx1"/>
                </a:solidFill>
              </a:rPr>
              <a:t>Missing details shown as “Not available in the source”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nchor="ctr"/>
          <a:lstStyle/>
          <a:p>
            <a:pPr algn="l" indent="0" marL="0">
              <a:buNone/>
            </a:pPr>
            <a:r>
              <a:rPr lang="en-US" sz="3200" b="1" dirty="0">
                <a:solidFill>
                  <a:schemeClr val="tx2"/>
                </a:solidFill>
              </a:rPr>
              <a:t>From single FIRs to connected networks</a:t>
            </a:r>
            <a:endParaRPr lang="en-US" sz="3200" dirty="0"/>
          </a:p>
        </p:txBody>
      </p:sp>
      <p:sp>
        <p:nvSpPr>
          <p:cNvPr id="4" name="Entity network circle"/>
          <p:cNvSpPr/>
          <p:nvPr/>
        </p:nvSpPr>
        <p:spPr>
          <a:xfrm>
            <a:off x="548640" y="1508760"/>
            <a:ext cx="868680" cy="868680"/>
          </a:xfrm>
          <a:prstGeom prst="ellipse">
            <a:avLst/>
          </a:prstGeom>
          <a:solidFill>
            <a:schemeClr val="accent4"/>
          </a:solidFill>
          <a:ln w="12700">
            <a:solidFill>
              <a:schemeClr val="accent4"/>
            </a:solidFill>
            <a:prstDash val="solid"/>
          </a:ln>
        </p:spPr>
      </p:sp>
      <p:pic>
        <p:nvPicPr>
          <p:cNvPr id="5" name="Entity network icon" descr="Entity network">    </p:cNvPr>
          <p:cNvPicPr>
            <a:picLocks noChangeAspect="1"/>
          </p:cNvPicPr>
          <p:nvPr/>
        </p:nvPicPr>
        <p:blipFill>
          <a:blip r:embed="rId1"/>
          <a:stretch>
            <a:fillRect/>
          </a:stretch>
        </p:blipFill>
        <p:spPr>
          <a:xfrm>
            <a:off x="757123" y="1717243"/>
            <a:ext cx="451714" cy="451714"/>
          </a:xfrm>
          <a:prstGeom prst="rect">
            <a:avLst/>
          </a:prstGeom>
        </p:spPr>
      </p:pic>
      <p:sp>
        <p:nvSpPr>
          <p:cNvPr id="6" name="Entity network title"/>
          <p:cNvSpPr txBox="1"/>
          <p:nvPr/>
        </p:nvSpPr>
        <p:spPr>
          <a:xfrm>
            <a:off x="1691640" y="1508760"/>
            <a:ext cx="5669280" cy="411480"/>
          </a:xfrm>
          <a:prstGeom prst="rect">
            <a:avLst/>
          </a:prstGeom>
          <a:noFill/>
          <a:ln/>
        </p:spPr>
        <p:txBody>
          <a:bodyPr wrap="square" lIns="0" tIns="0" rIns="0" bIns="0" rtlCol="0" anchor="t"/>
          <a:lstStyle/>
          <a:p>
            <a:pPr indent="0" marL="0">
              <a:buNone/>
            </a:pPr>
            <a:r>
              <a:rPr lang="en-US" sz="1900" b="1" dirty="0">
                <a:solidFill>
                  <a:schemeClr val="tx2"/>
                </a:solidFill>
              </a:rPr>
              <a:t>Entity network</a:t>
            </a:r>
            <a:endParaRPr lang="en-US" sz="1900" dirty="0"/>
          </a:p>
        </p:txBody>
      </p:sp>
      <p:sp>
        <p:nvSpPr>
          <p:cNvPr id="7" name="Entity network text"/>
          <p:cNvSpPr txBox="1"/>
          <p:nvPr/>
        </p:nvSpPr>
        <p:spPr>
          <a:xfrm>
            <a:off x="1691640" y="1920240"/>
            <a:ext cx="5669280" cy="685800"/>
          </a:xfrm>
          <a:prstGeom prst="rect">
            <a:avLst/>
          </a:prstGeom>
          <a:noFill/>
          <a:ln/>
        </p:spPr>
        <p:txBody>
          <a:bodyPr wrap="square" lIns="0" tIns="0" rIns="0" bIns="0" rtlCol="0" anchor="t"/>
          <a:lstStyle/>
          <a:p>
            <a:pPr indent="0" marL="0">
              <a:buNone/>
            </a:pPr>
            <a:r>
              <a:rPr lang="en-US" sz="1500" dirty="0">
                <a:solidFill>
                  <a:schemeClr val="tx1"/>
                </a:solidFill>
              </a:rPr>
              <a:t>People, vehicles, locations and phone numbers linked across cases, explored as an interactive graph.</a:t>
            </a:r>
            <a:endParaRPr lang="en-US" sz="1500" dirty="0"/>
          </a:p>
        </p:txBody>
      </p:sp>
      <p:sp>
        <p:nvSpPr>
          <p:cNvPr id="8" name="Repeat-offender intelligence circle"/>
          <p:cNvSpPr/>
          <p:nvPr/>
        </p:nvSpPr>
        <p:spPr>
          <a:xfrm>
            <a:off x="548640" y="2697480"/>
            <a:ext cx="868680" cy="868680"/>
          </a:xfrm>
          <a:prstGeom prst="ellipse">
            <a:avLst/>
          </a:prstGeom>
          <a:solidFill>
            <a:schemeClr val="accent4"/>
          </a:solidFill>
          <a:ln w="12700">
            <a:solidFill>
              <a:schemeClr val="accent4"/>
            </a:solidFill>
            <a:prstDash val="solid"/>
          </a:ln>
        </p:spPr>
      </p:sp>
      <p:pic>
        <p:nvPicPr>
          <p:cNvPr id="9" name="Repeat-offender intelligence icon" descr="Repeat-offender intelligence">    </p:cNvPr>
          <p:cNvPicPr>
            <a:picLocks noChangeAspect="1"/>
          </p:cNvPicPr>
          <p:nvPr/>
        </p:nvPicPr>
        <p:blipFill>
          <a:blip r:embed="rId2"/>
          <a:stretch>
            <a:fillRect/>
          </a:stretch>
        </p:blipFill>
        <p:spPr>
          <a:xfrm>
            <a:off x="757123" y="2905963"/>
            <a:ext cx="451714" cy="451714"/>
          </a:xfrm>
          <a:prstGeom prst="rect">
            <a:avLst/>
          </a:prstGeom>
        </p:spPr>
      </p:pic>
      <p:sp>
        <p:nvSpPr>
          <p:cNvPr id="10" name="Repeat-offender intelligence title"/>
          <p:cNvSpPr txBox="1"/>
          <p:nvPr/>
        </p:nvSpPr>
        <p:spPr>
          <a:xfrm>
            <a:off x="1691640" y="2697480"/>
            <a:ext cx="5669280" cy="411480"/>
          </a:xfrm>
          <a:prstGeom prst="rect">
            <a:avLst/>
          </a:prstGeom>
          <a:noFill/>
          <a:ln/>
        </p:spPr>
        <p:txBody>
          <a:bodyPr wrap="square" lIns="0" tIns="0" rIns="0" bIns="0" rtlCol="0" anchor="t"/>
          <a:lstStyle/>
          <a:p>
            <a:pPr indent="0" marL="0">
              <a:buNone/>
            </a:pPr>
            <a:r>
              <a:rPr lang="en-US" sz="1900" b="1" dirty="0">
                <a:solidFill>
                  <a:schemeClr val="tx2"/>
                </a:solidFill>
              </a:rPr>
              <a:t>Repeat-offender intelligence</a:t>
            </a:r>
            <a:endParaRPr lang="en-US" sz="1900" dirty="0"/>
          </a:p>
        </p:txBody>
      </p:sp>
      <p:sp>
        <p:nvSpPr>
          <p:cNvPr id="11" name="Repeat-offender intelligence text"/>
          <p:cNvSpPr txBox="1"/>
          <p:nvPr/>
        </p:nvSpPr>
        <p:spPr>
          <a:xfrm>
            <a:off x="1691640" y="3108960"/>
            <a:ext cx="5669280" cy="685800"/>
          </a:xfrm>
          <a:prstGeom prst="rect">
            <a:avLst/>
          </a:prstGeom>
          <a:noFill/>
          <a:ln/>
        </p:spPr>
        <p:txBody>
          <a:bodyPr wrap="square" lIns="0" tIns="0" rIns="0" bIns="0" rtlCol="0" anchor="t"/>
          <a:lstStyle/>
          <a:p>
            <a:pPr indent="0" marL="0">
              <a:buNone/>
            </a:pPr>
            <a:r>
              <a:rPr lang="en-US" sz="1500" dirty="0">
                <a:solidFill>
                  <a:schemeClr val="tx1"/>
                </a:solidFill>
              </a:rPr>
              <a:t>Each new case is checked against earlier cases for repeat appearances and links.</a:t>
            </a:r>
            <a:endParaRPr lang="en-US" sz="1500" dirty="0"/>
          </a:p>
        </p:txBody>
      </p:sp>
      <p:sp>
        <p:nvSpPr>
          <p:cNvPr id="12" name="Entity review queue circle"/>
          <p:cNvSpPr/>
          <p:nvPr/>
        </p:nvSpPr>
        <p:spPr>
          <a:xfrm>
            <a:off x="548640" y="3886200"/>
            <a:ext cx="868680" cy="868680"/>
          </a:xfrm>
          <a:prstGeom prst="ellipse">
            <a:avLst/>
          </a:prstGeom>
          <a:solidFill>
            <a:schemeClr val="accent4"/>
          </a:solidFill>
          <a:ln w="12700">
            <a:solidFill>
              <a:schemeClr val="accent4"/>
            </a:solidFill>
            <a:prstDash val="solid"/>
          </a:ln>
        </p:spPr>
      </p:sp>
      <p:pic>
        <p:nvPicPr>
          <p:cNvPr id="13" name="Entity review queue icon" descr="Entity review queue">    </p:cNvPr>
          <p:cNvPicPr>
            <a:picLocks noChangeAspect="1"/>
          </p:cNvPicPr>
          <p:nvPr/>
        </p:nvPicPr>
        <p:blipFill>
          <a:blip r:embed="rId3"/>
          <a:stretch>
            <a:fillRect/>
          </a:stretch>
        </p:blipFill>
        <p:spPr>
          <a:xfrm>
            <a:off x="757123" y="4094683"/>
            <a:ext cx="451714" cy="451714"/>
          </a:xfrm>
          <a:prstGeom prst="rect">
            <a:avLst/>
          </a:prstGeom>
        </p:spPr>
      </p:pic>
      <p:sp>
        <p:nvSpPr>
          <p:cNvPr id="14" name="Entity review queue title"/>
          <p:cNvSpPr txBox="1"/>
          <p:nvPr/>
        </p:nvSpPr>
        <p:spPr>
          <a:xfrm>
            <a:off x="1691640" y="3886200"/>
            <a:ext cx="5669280" cy="411480"/>
          </a:xfrm>
          <a:prstGeom prst="rect">
            <a:avLst/>
          </a:prstGeom>
          <a:noFill/>
          <a:ln/>
        </p:spPr>
        <p:txBody>
          <a:bodyPr wrap="square" lIns="0" tIns="0" rIns="0" bIns="0" rtlCol="0" anchor="t"/>
          <a:lstStyle/>
          <a:p>
            <a:pPr indent="0" marL="0">
              <a:buNone/>
            </a:pPr>
            <a:r>
              <a:rPr lang="en-US" sz="1900" b="1" dirty="0">
                <a:solidFill>
                  <a:schemeClr val="tx2"/>
                </a:solidFill>
              </a:rPr>
              <a:t>Entity review queue</a:t>
            </a:r>
            <a:endParaRPr lang="en-US" sz="1900" dirty="0"/>
          </a:p>
        </p:txBody>
      </p:sp>
      <p:sp>
        <p:nvSpPr>
          <p:cNvPr id="15" name="Entity review queue text"/>
          <p:cNvSpPr txBox="1"/>
          <p:nvPr/>
        </p:nvSpPr>
        <p:spPr>
          <a:xfrm>
            <a:off x="1691640" y="4297680"/>
            <a:ext cx="5669280" cy="685800"/>
          </a:xfrm>
          <a:prstGeom prst="rect">
            <a:avLst/>
          </a:prstGeom>
          <a:noFill/>
          <a:ln/>
        </p:spPr>
        <p:txBody>
          <a:bodyPr wrap="square" lIns="0" tIns="0" rIns="0" bIns="0" rtlCol="0" anchor="t"/>
          <a:lstStyle/>
          <a:p>
            <a:pPr indent="0" marL="0">
              <a:buNone/>
            </a:pPr>
            <a:r>
              <a:rPr lang="en-US" sz="1500" dirty="0">
                <a:solidFill>
                  <a:schemeClr val="tx1"/>
                </a:solidFill>
              </a:rPr>
              <a:t>Possible duplicate persons and vehicles are merged only after an officer confirms them.</a:t>
            </a:r>
            <a:endParaRPr lang="en-US" sz="1500" dirty="0"/>
          </a:p>
        </p:txBody>
      </p:sp>
      <p:sp>
        <p:nvSpPr>
          <p:cNvPr id="16" name="Case diary and chargesheet circle"/>
          <p:cNvSpPr/>
          <p:nvPr/>
        </p:nvSpPr>
        <p:spPr>
          <a:xfrm>
            <a:off x="548640" y="5074920"/>
            <a:ext cx="868680" cy="868680"/>
          </a:xfrm>
          <a:prstGeom prst="ellipse">
            <a:avLst/>
          </a:prstGeom>
          <a:solidFill>
            <a:schemeClr val="accent4"/>
          </a:solidFill>
          <a:ln w="12700">
            <a:solidFill>
              <a:schemeClr val="accent4"/>
            </a:solidFill>
            <a:prstDash val="solid"/>
          </a:ln>
        </p:spPr>
      </p:sp>
      <p:pic>
        <p:nvPicPr>
          <p:cNvPr id="17" name="Case diary and chargesheet icon" descr="Case diary and chargesheet">    </p:cNvPr>
          <p:cNvPicPr>
            <a:picLocks noChangeAspect="1"/>
          </p:cNvPicPr>
          <p:nvPr/>
        </p:nvPicPr>
        <p:blipFill>
          <a:blip r:embed="rId4"/>
          <a:stretch>
            <a:fillRect/>
          </a:stretch>
        </p:blipFill>
        <p:spPr>
          <a:xfrm>
            <a:off x="757123" y="5283403"/>
            <a:ext cx="451714" cy="451714"/>
          </a:xfrm>
          <a:prstGeom prst="rect">
            <a:avLst/>
          </a:prstGeom>
        </p:spPr>
      </p:pic>
      <p:sp>
        <p:nvSpPr>
          <p:cNvPr id="18" name="Case diary and chargesheet title"/>
          <p:cNvSpPr txBox="1"/>
          <p:nvPr/>
        </p:nvSpPr>
        <p:spPr>
          <a:xfrm>
            <a:off x="1691640" y="5074920"/>
            <a:ext cx="5669280" cy="411480"/>
          </a:xfrm>
          <a:prstGeom prst="rect">
            <a:avLst/>
          </a:prstGeom>
          <a:noFill/>
          <a:ln/>
        </p:spPr>
        <p:txBody>
          <a:bodyPr wrap="square" lIns="0" tIns="0" rIns="0" bIns="0" rtlCol="0" anchor="t"/>
          <a:lstStyle/>
          <a:p>
            <a:pPr indent="0" marL="0">
              <a:buNone/>
            </a:pPr>
            <a:r>
              <a:rPr lang="en-US" sz="1900" b="1" dirty="0">
                <a:solidFill>
                  <a:schemeClr val="tx2"/>
                </a:solidFill>
              </a:rPr>
              <a:t>Case diary and chargesheet</a:t>
            </a:r>
            <a:endParaRPr lang="en-US" sz="1900" dirty="0"/>
          </a:p>
        </p:txBody>
      </p:sp>
      <p:sp>
        <p:nvSpPr>
          <p:cNvPr id="19" name="Case diary and chargesheet text"/>
          <p:cNvSpPr txBox="1"/>
          <p:nvPr/>
        </p:nvSpPr>
        <p:spPr>
          <a:xfrm>
            <a:off x="1691640" y="5486400"/>
            <a:ext cx="5669280" cy="685800"/>
          </a:xfrm>
          <a:prstGeom prst="rect">
            <a:avLst/>
          </a:prstGeom>
          <a:noFill/>
          <a:ln/>
        </p:spPr>
        <p:txBody>
          <a:bodyPr wrap="square" lIns="0" tIns="0" rIns="0" bIns="0" rtlCol="0" anchor="t"/>
          <a:lstStyle/>
          <a:p>
            <a:pPr indent="0" marL="0">
              <a:buNone/>
            </a:pPr>
            <a:r>
              <a:rPr lang="en-US" sz="1500" dirty="0">
                <a:solidFill>
                  <a:schemeClr val="tx1"/>
                </a:solidFill>
              </a:rPr>
              <a:t>Drafted from verified case facts; they stay drafts until an officer approves them.</a:t>
            </a:r>
            <a:endParaRPr lang="en-US" sz="1500" dirty="0"/>
          </a:p>
        </p:txBody>
      </p:sp>
      <p:sp>
        <p:nvSpPr>
          <p:cNvPr id="20" name="investigation stats card"/>
          <p:cNvSpPr/>
          <p:nvPr/>
        </p:nvSpPr>
        <p:spPr>
          <a:xfrm>
            <a:off x="7863840" y="1508760"/>
            <a:ext cx="3749040" cy="4526280"/>
          </a:xfrm>
          <a:prstGeom prst="roundRect">
            <a:avLst>
              <a:gd name="adj" fmla="val 2927"/>
            </a:avLst>
          </a:prstGeom>
          <a:solidFill>
            <a:schemeClr val="tx2"/>
          </a:solidFill>
          <a:ln w="12700">
            <a:solidFill>
              <a:schemeClr val="tx2"/>
            </a:solidFill>
            <a:prstDash val="solid"/>
          </a:ln>
        </p:spPr>
      </p:sp>
      <p:sp>
        <p:nvSpPr>
          <p:cNvPr id="21" name="inv stat 0 value"/>
          <p:cNvSpPr txBox="1"/>
          <p:nvPr/>
        </p:nvSpPr>
        <p:spPr>
          <a:xfrm>
            <a:off x="8183880" y="1828800"/>
            <a:ext cx="3108960" cy="914400"/>
          </a:xfrm>
          <a:prstGeom prst="rect">
            <a:avLst/>
          </a:prstGeom>
          <a:noFill/>
          <a:ln/>
        </p:spPr>
        <p:txBody>
          <a:bodyPr wrap="square" lIns="0" tIns="0" rIns="0" bIns="0" rtlCol="0" anchor="t"/>
          <a:lstStyle/>
          <a:p>
            <a:pPr indent="0" marL="0">
              <a:buNone/>
            </a:pPr>
            <a:r>
              <a:rPr lang="en-US" sz="5400" b="1" dirty="0">
                <a:solidFill>
                  <a:schemeClr val="accent2"/>
                </a:solidFill>
              </a:rPr>
              <a:t>35</a:t>
            </a:r>
            <a:endParaRPr lang="en-US" sz="5400" dirty="0"/>
          </a:p>
        </p:txBody>
      </p:sp>
      <p:sp>
        <p:nvSpPr>
          <p:cNvPr id="22" name="inv stat 0 label"/>
          <p:cNvSpPr txBox="1"/>
          <p:nvPr/>
        </p:nvSpPr>
        <p:spPr>
          <a:xfrm>
            <a:off x="8183880" y="2743200"/>
            <a:ext cx="3108960" cy="731520"/>
          </a:xfrm>
          <a:prstGeom prst="rect">
            <a:avLst/>
          </a:prstGeom>
          <a:noFill/>
          <a:ln/>
        </p:spPr>
        <p:txBody>
          <a:bodyPr wrap="square" lIns="0" tIns="0" rIns="0" bIns="0" rtlCol="0" anchor="t"/>
          <a:lstStyle/>
          <a:p>
            <a:pPr indent="0" marL="0">
              <a:buNone/>
            </a:pPr>
            <a:r>
              <a:rPr lang="en-US" sz="1500" dirty="0">
                <a:solidFill>
                  <a:schemeClr val="bg2"/>
                </a:solidFill>
              </a:rPr>
              <a:t>entities tracked across cases</a:t>
            </a:r>
            <a:endParaRPr lang="en-US" sz="1500" dirty="0"/>
          </a:p>
        </p:txBody>
      </p:sp>
      <p:sp>
        <p:nvSpPr>
          <p:cNvPr id="23" name="inv stat 1 value"/>
          <p:cNvSpPr txBox="1"/>
          <p:nvPr/>
        </p:nvSpPr>
        <p:spPr>
          <a:xfrm>
            <a:off x="8183880" y="3886200"/>
            <a:ext cx="3108960" cy="914400"/>
          </a:xfrm>
          <a:prstGeom prst="rect">
            <a:avLst/>
          </a:prstGeom>
          <a:noFill/>
          <a:ln/>
        </p:spPr>
        <p:txBody>
          <a:bodyPr wrap="square" lIns="0" tIns="0" rIns="0" bIns="0" rtlCol="0" anchor="t"/>
          <a:lstStyle/>
          <a:p>
            <a:pPr indent="0" marL="0">
              <a:buNone/>
            </a:pPr>
            <a:r>
              <a:rPr lang="en-US" sz="5400" b="1" dirty="0">
                <a:solidFill>
                  <a:schemeClr val="accent2"/>
                </a:solidFill>
              </a:rPr>
              <a:t>6</a:t>
            </a:r>
            <a:endParaRPr lang="en-US" sz="5400" dirty="0"/>
          </a:p>
        </p:txBody>
      </p:sp>
      <p:sp>
        <p:nvSpPr>
          <p:cNvPr id="24" name="inv stat 1 label"/>
          <p:cNvSpPr txBox="1"/>
          <p:nvPr/>
        </p:nvSpPr>
        <p:spPr>
          <a:xfrm>
            <a:off x="8183880" y="4800600"/>
            <a:ext cx="3108960" cy="731520"/>
          </a:xfrm>
          <a:prstGeom prst="rect">
            <a:avLst/>
          </a:prstGeom>
          <a:noFill/>
          <a:ln/>
        </p:spPr>
        <p:txBody>
          <a:bodyPr wrap="square" lIns="0" tIns="0" rIns="0" bIns="0" rtlCol="0" anchor="t"/>
          <a:lstStyle/>
          <a:p>
            <a:pPr indent="0" marL="0">
              <a:buNone/>
            </a:pPr>
            <a:r>
              <a:rPr lang="en-US" sz="1500" dirty="0">
                <a:solidFill>
                  <a:schemeClr val="bg2"/>
                </a:solidFill>
              </a:rPr>
              <a:t>workflow stages per case, each with a real status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nchor="ctr"/>
          <a:lstStyle/>
          <a:p>
            <a:pPr algn="l" indent="0" marL="0">
              <a:buNone/>
            </a:pPr>
            <a:r>
              <a:rPr lang="en-US" sz="3200" b="1" dirty="0">
                <a:solidFill>
                  <a:schemeClr val="tx2"/>
                </a:solidFill>
              </a:rPr>
              <a:t>Built for jurisdiction, accountability and human control</a:t>
            </a:r>
            <a:endParaRPr lang="en-US" sz="3200" dirty="0"/>
          </a:p>
        </p:txBody>
      </p:sp>
      <p:sp>
        <p:nvSpPr>
          <p:cNvPr id="4" name="Server-side jurisdiction card"/>
          <p:cNvSpPr/>
          <p:nvPr/>
        </p:nvSpPr>
        <p:spPr>
          <a:xfrm>
            <a:off x="548640" y="1554480"/>
            <a:ext cx="3611880" cy="2103120"/>
          </a:xfrm>
          <a:prstGeom prst="roundRect">
            <a:avLst>
              <a:gd name="adj" fmla="val 5217"/>
            </a:avLst>
          </a:prstGeom>
          <a:solidFill>
            <a:schemeClr val="bg2"/>
          </a:solidFill>
          <a:ln w="12700">
            <a:solidFill>
              <a:schemeClr val="bg2"/>
            </a:solidFill>
            <a:prstDash val="solid"/>
          </a:ln>
        </p:spPr>
      </p:sp>
      <p:sp>
        <p:nvSpPr>
          <p:cNvPr id="5" name="Server-side jurisdiction circle"/>
          <p:cNvSpPr/>
          <p:nvPr/>
        </p:nvSpPr>
        <p:spPr>
          <a:xfrm>
            <a:off x="822960" y="1874520"/>
            <a:ext cx="777240" cy="777240"/>
          </a:xfrm>
          <a:prstGeom prst="ellipse">
            <a:avLst/>
          </a:prstGeom>
          <a:solidFill>
            <a:schemeClr val="accent1"/>
          </a:solidFill>
          <a:ln w="12700">
            <a:solidFill>
              <a:schemeClr val="accent1"/>
            </a:solidFill>
            <a:prstDash val="solid"/>
          </a:ln>
        </p:spPr>
      </p:sp>
      <p:pic>
        <p:nvPicPr>
          <p:cNvPr id="6" name="Server-side jurisdiction icon" descr="Server-side jurisdiction">    </p:cNvPr>
          <p:cNvPicPr>
            <a:picLocks noChangeAspect="1"/>
          </p:cNvPicPr>
          <p:nvPr/>
        </p:nvPicPr>
        <p:blipFill>
          <a:blip r:embed="rId1"/>
          <a:stretch>
            <a:fillRect/>
          </a:stretch>
        </p:blipFill>
        <p:spPr>
          <a:xfrm>
            <a:off x="1009498" y="2061058"/>
            <a:ext cx="404165" cy="404165"/>
          </a:xfrm>
          <a:prstGeom prst="rect">
            <a:avLst/>
          </a:prstGeom>
        </p:spPr>
      </p:pic>
      <p:sp>
        <p:nvSpPr>
          <p:cNvPr id="7" name="Server-side jurisdiction title"/>
          <p:cNvSpPr txBox="1"/>
          <p:nvPr/>
        </p:nvSpPr>
        <p:spPr>
          <a:xfrm>
            <a:off x="1783080" y="1920240"/>
            <a:ext cx="2194560" cy="731520"/>
          </a:xfrm>
          <a:prstGeom prst="rect">
            <a:avLst/>
          </a:prstGeom>
          <a:noFill/>
          <a:ln/>
        </p:spPr>
        <p:txBody>
          <a:bodyPr wrap="square" lIns="0" tIns="0" rIns="0" bIns="0" rtlCol="0" anchor="ctr"/>
          <a:lstStyle/>
          <a:p>
            <a:pPr indent="0" marL="0">
              <a:buNone/>
            </a:pPr>
            <a:r>
              <a:rPr lang="en-US" sz="1800" b="1" dirty="0">
                <a:solidFill>
                  <a:schemeClr val="tx2"/>
                </a:solidFill>
              </a:rPr>
              <a:t>Server-side jurisdiction</a:t>
            </a:r>
            <a:endParaRPr lang="en-US" sz="1800" dirty="0"/>
          </a:p>
        </p:txBody>
      </p:sp>
      <p:sp>
        <p:nvSpPr>
          <p:cNvPr id="8" name="Server-side jurisdiction text"/>
          <p:cNvSpPr txBox="1"/>
          <p:nvPr/>
        </p:nvSpPr>
        <p:spPr>
          <a:xfrm>
            <a:off x="822960" y="2788920"/>
            <a:ext cx="3063240" cy="777240"/>
          </a:xfrm>
          <a:prstGeom prst="rect">
            <a:avLst/>
          </a:prstGeom>
          <a:noFill/>
          <a:ln/>
        </p:spPr>
        <p:txBody>
          <a:bodyPr wrap="square" lIns="0" tIns="0" rIns="0" bIns="0" rtlCol="0" anchor="t"/>
          <a:lstStyle/>
          <a:p>
            <a:pPr indent="0" marL="0">
              <a:buNone/>
            </a:pPr>
            <a:r>
              <a:rPr lang="en-US" sz="1400" dirty="0">
                <a:solidFill>
                  <a:schemeClr val="tx1"/>
                </a:solidFill>
              </a:rPr>
              <a:t>Station, district and state officers see only their own records, in every module and AI answer.</a:t>
            </a:r>
            <a:endParaRPr lang="en-US" sz="1400" dirty="0"/>
          </a:p>
        </p:txBody>
      </p:sp>
      <p:sp>
        <p:nvSpPr>
          <p:cNvPr id="9" name="Tamper-evident audit card"/>
          <p:cNvSpPr/>
          <p:nvPr/>
        </p:nvSpPr>
        <p:spPr>
          <a:xfrm>
            <a:off x="4389120" y="1554480"/>
            <a:ext cx="3611880" cy="2103120"/>
          </a:xfrm>
          <a:prstGeom prst="roundRect">
            <a:avLst>
              <a:gd name="adj" fmla="val 5217"/>
            </a:avLst>
          </a:prstGeom>
          <a:solidFill>
            <a:schemeClr val="bg2"/>
          </a:solidFill>
          <a:ln w="12700">
            <a:solidFill>
              <a:schemeClr val="bg2"/>
            </a:solidFill>
            <a:prstDash val="solid"/>
          </a:ln>
        </p:spPr>
      </p:sp>
      <p:sp>
        <p:nvSpPr>
          <p:cNvPr id="10" name="Tamper-evident audit circle"/>
          <p:cNvSpPr/>
          <p:nvPr/>
        </p:nvSpPr>
        <p:spPr>
          <a:xfrm>
            <a:off x="4663440" y="1874520"/>
            <a:ext cx="777240" cy="777240"/>
          </a:xfrm>
          <a:prstGeom prst="ellipse">
            <a:avLst/>
          </a:prstGeom>
          <a:solidFill>
            <a:schemeClr val="accent1"/>
          </a:solidFill>
          <a:ln w="12700">
            <a:solidFill>
              <a:schemeClr val="accent1"/>
            </a:solidFill>
            <a:prstDash val="solid"/>
          </a:ln>
        </p:spPr>
      </p:sp>
      <p:pic>
        <p:nvPicPr>
          <p:cNvPr id="11" name="Tamper-evident audit icon" descr="Tamper-evident audit">    </p:cNvPr>
          <p:cNvPicPr>
            <a:picLocks noChangeAspect="1"/>
          </p:cNvPicPr>
          <p:nvPr/>
        </p:nvPicPr>
        <p:blipFill>
          <a:blip r:embed="rId2"/>
          <a:stretch>
            <a:fillRect/>
          </a:stretch>
        </p:blipFill>
        <p:spPr>
          <a:xfrm>
            <a:off x="4849978" y="2061058"/>
            <a:ext cx="404165" cy="404165"/>
          </a:xfrm>
          <a:prstGeom prst="rect">
            <a:avLst/>
          </a:prstGeom>
        </p:spPr>
      </p:pic>
      <p:sp>
        <p:nvSpPr>
          <p:cNvPr id="12" name="Tamper-evident audit title"/>
          <p:cNvSpPr txBox="1"/>
          <p:nvPr/>
        </p:nvSpPr>
        <p:spPr>
          <a:xfrm>
            <a:off x="5623560" y="1920240"/>
            <a:ext cx="2194560" cy="731520"/>
          </a:xfrm>
          <a:prstGeom prst="rect">
            <a:avLst/>
          </a:prstGeom>
          <a:noFill/>
          <a:ln/>
        </p:spPr>
        <p:txBody>
          <a:bodyPr wrap="square" lIns="0" tIns="0" rIns="0" bIns="0" rtlCol="0" anchor="ctr"/>
          <a:lstStyle/>
          <a:p>
            <a:pPr indent="0" marL="0">
              <a:buNone/>
            </a:pPr>
            <a:r>
              <a:rPr lang="en-US" sz="1800" b="1" dirty="0">
                <a:solidFill>
                  <a:schemeClr val="tx2"/>
                </a:solidFill>
              </a:rPr>
              <a:t>Tamper-evident audit</a:t>
            </a:r>
            <a:endParaRPr lang="en-US" sz="1800" dirty="0"/>
          </a:p>
        </p:txBody>
      </p:sp>
      <p:sp>
        <p:nvSpPr>
          <p:cNvPr id="13" name="Tamper-evident audit text"/>
          <p:cNvSpPr txBox="1"/>
          <p:nvPr/>
        </p:nvSpPr>
        <p:spPr>
          <a:xfrm>
            <a:off x="4663440" y="2788920"/>
            <a:ext cx="3063240" cy="777240"/>
          </a:xfrm>
          <a:prstGeom prst="rect">
            <a:avLst/>
          </a:prstGeom>
          <a:noFill/>
          <a:ln/>
        </p:spPr>
        <p:txBody>
          <a:bodyPr wrap="square" lIns="0" tIns="0" rIns="0" bIns="0" rtlCol="0" anchor="t"/>
          <a:lstStyle/>
          <a:p>
            <a:pPr indent="0" marL="0">
              <a:buNone/>
            </a:pPr>
            <a:r>
              <a:rPr lang="en-US" sz="1400" dirty="0">
                <a:solidFill>
                  <a:schemeClr val="tx1"/>
                </a:solidFill>
              </a:rPr>
              <a:t>Registrations, edits, approvals and replacements are chained with SHA-256 hashes.</a:t>
            </a:r>
            <a:endParaRPr lang="en-US" sz="1400" dirty="0"/>
          </a:p>
        </p:txBody>
      </p:sp>
      <p:sp>
        <p:nvSpPr>
          <p:cNvPr id="14" name="Human sign-off card"/>
          <p:cNvSpPr/>
          <p:nvPr/>
        </p:nvSpPr>
        <p:spPr>
          <a:xfrm>
            <a:off x="548640" y="3886200"/>
            <a:ext cx="3611880" cy="2103120"/>
          </a:xfrm>
          <a:prstGeom prst="roundRect">
            <a:avLst>
              <a:gd name="adj" fmla="val 5217"/>
            </a:avLst>
          </a:prstGeom>
          <a:solidFill>
            <a:schemeClr val="bg2"/>
          </a:solidFill>
          <a:ln w="12700">
            <a:solidFill>
              <a:schemeClr val="bg2"/>
            </a:solidFill>
            <a:prstDash val="solid"/>
          </a:ln>
        </p:spPr>
      </p:sp>
      <p:sp>
        <p:nvSpPr>
          <p:cNvPr id="15" name="Human sign-off circle"/>
          <p:cNvSpPr/>
          <p:nvPr/>
        </p:nvSpPr>
        <p:spPr>
          <a:xfrm>
            <a:off x="822960" y="4206240"/>
            <a:ext cx="777240" cy="777240"/>
          </a:xfrm>
          <a:prstGeom prst="ellipse">
            <a:avLst/>
          </a:prstGeom>
          <a:solidFill>
            <a:schemeClr val="accent1"/>
          </a:solidFill>
          <a:ln w="12700">
            <a:solidFill>
              <a:schemeClr val="accent1"/>
            </a:solidFill>
            <a:prstDash val="solid"/>
          </a:ln>
        </p:spPr>
      </p:sp>
      <p:pic>
        <p:nvPicPr>
          <p:cNvPr id="16" name="Human sign-off icon" descr="Human sign-off">    </p:cNvPr>
          <p:cNvPicPr>
            <a:picLocks noChangeAspect="1"/>
          </p:cNvPicPr>
          <p:nvPr/>
        </p:nvPicPr>
        <p:blipFill>
          <a:blip r:embed="rId3"/>
          <a:stretch>
            <a:fillRect/>
          </a:stretch>
        </p:blipFill>
        <p:spPr>
          <a:xfrm>
            <a:off x="1009498" y="4392778"/>
            <a:ext cx="404165" cy="404165"/>
          </a:xfrm>
          <a:prstGeom prst="rect">
            <a:avLst/>
          </a:prstGeom>
        </p:spPr>
      </p:pic>
      <p:sp>
        <p:nvSpPr>
          <p:cNvPr id="17" name="Human sign-off title"/>
          <p:cNvSpPr txBox="1"/>
          <p:nvPr/>
        </p:nvSpPr>
        <p:spPr>
          <a:xfrm>
            <a:off x="1783080" y="4251960"/>
            <a:ext cx="2194560" cy="731520"/>
          </a:xfrm>
          <a:prstGeom prst="rect">
            <a:avLst/>
          </a:prstGeom>
          <a:noFill/>
          <a:ln/>
        </p:spPr>
        <p:txBody>
          <a:bodyPr wrap="square" lIns="0" tIns="0" rIns="0" bIns="0" rtlCol="0" anchor="ctr"/>
          <a:lstStyle/>
          <a:p>
            <a:pPr indent="0" marL="0">
              <a:buNone/>
            </a:pPr>
            <a:r>
              <a:rPr lang="en-US" sz="1800" b="1" dirty="0">
                <a:solidFill>
                  <a:schemeClr val="tx2"/>
                </a:solidFill>
              </a:rPr>
              <a:t>Human sign-off</a:t>
            </a:r>
            <a:endParaRPr lang="en-US" sz="1800" dirty="0"/>
          </a:p>
        </p:txBody>
      </p:sp>
      <p:sp>
        <p:nvSpPr>
          <p:cNvPr id="18" name="Human sign-off text"/>
          <p:cNvSpPr txBox="1"/>
          <p:nvPr/>
        </p:nvSpPr>
        <p:spPr>
          <a:xfrm>
            <a:off x="822960" y="5120640"/>
            <a:ext cx="3063240" cy="777240"/>
          </a:xfrm>
          <a:prstGeom prst="rect">
            <a:avLst/>
          </a:prstGeom>
          <a:noFill/>
          <a:ln/>
        </p:spPr>
        <p:txBody>
          <a:bodyPr wrap="square" lIns="0" tIns="0" rIns="0" bIns="0" rtlCol="0" anchor="t"/>
          <a:lstStyle/>
          <a:p>
            <a:pPr indent="0" marL="0">
              <a:buNone/>
            </a:pPr>
            <a:r>
              <a:rPr lang="en-US" sz="1400" dirty="0">
                <a:solidFill>
                  <a:schemeClr val="tx1"/>
                </a:solidFill>
              </a:rPr>
              <a:t>No case, diary or chargesheet is approved automatically; officers decide.</a:t>
            </a:r>
            <a:endParaRPr lang="en-US" sz="1400" dirty="0"/>
          </a:p>
        </p:txBody>
      </p:sp>
      <p:sp>
        <p:nvSpPr>
          <p:cNvPr id="19" name="Private evidence storage card"/>
          <p:cNvSpPr/>
          <p:nvPr/>
        </p:nvSpPr>
        <p:spPr>
          <a:xfrm>
            <a:off x="4389120" y="3886200"/>
            <a:ext cx="3611880" cy="2103120"/>
          </a:xfrm>
          <a:prstGeom prst="roundRect">
            <a:avLst>
              <a:gd name="adj" fmla="val 5217"/>
            </a:avLst>
          </a:prstGeom>
          <a:solidFill>
            <a:schemeClr val="bg2"/>
          </a:solidFill>
          <a:ln w="12700">
            <a:solidFill>
              <a:schemeClr val="bg2"/>
            </a:solidFill>
            <a:prstDash val="solid"/>
          </a:ln>
        </p:spPr>
      </p:sp>
      <p:sp>
        <p:nvSpPr>
          <p:cNvPr id="20" name="Private evidence storage circle"/>
          <p:cNvSpPr/>
          <p:nvPr/>
        </p:nvSpPr>
        <p:spPr>
          <a:xfrm>
            <a:off x="4663440" y="4206240"/>
            <a:ext cx="777240" cy="777240"/>
          </a:xfrm>
          <a:prstGeom prst="ellipse">
            <a:avLst/>
          </a:prstGeom>
          <a:solidFill>
            <a:schemeClr val="accent1"/>
          </a:solidFill>
          <a:ln w="12700">
            <a:solidFill>
              <a:schemeClr val="accent1"/>
            </a:solidFill>
            <a:prstDash val="solid"/>
          </a:ln>
        </p:spPr>
      </p:sp>
      <p:pic>
        <p:nvPicPr>
          <p:cNvPr id="21" name="Private evidence storage icon" descr="Private evidence storage">    </p:cNvPr>
          <p:cNvPicPr>
            <a:picLocks noChangeAspect="1"/>
          </p:cNvPicPr>
          <p:nvPr/>
        </p:nvPicPr>
        <p:blipFill>
          <a:blip r:embed="rId4"/>
          <a:stretch>
            <a:fillRect/>
          </a:stretch>
        </p:blipFill>
        <p:spPr>
          <a:xfrm>
            <a:off x="4849978" y="4392778"/>
            <a:ext cx="404165" cy="404165"/>
          </a:xfrm>
          <a:prstGeom prst="rect">
            <a:avLst/>
          </a:prstGeom>
        </p:spPr>
      </p:pic>
      <p:sp>
        <p:nvSpPr>
          <p:cNvPr id="22" name="Private evidence storage title"/>
          <p:cNvSpPr txBox="1"/>
          <p:nvPr/>
        </p:nvSpPr>
        <p:spPr>
          <a:xfrm>
            <a:off x="5623560" y="4251960"/>
            <a:ext cx="2194560" cy="731520"/>
          </a:xfrm>
          <a:prstGeom prst="rect">
            <a:avLst/>
          </a:prstGeom>
          <a:noFill/>
          <a:ln/>
        </p:spPr>
        <p:txBody>
          <a:bodyPr wrap="square" lIns="0" tIns="0" rIns="0" bIns="0" rtlCol="0" anchor="ctr"/>
          <a:lstStyle/>
          <a:p>
            <a:pPr indent="0" marL="0">
              <a:buNone/>
            </a:pPr>
            <a:r>
              <a:rPr lang="en-US" sz="1800" b="1" dirty="0">
                <a:solidFill>
                  <a:schemeClr val="tx2"/>
                </a:solidFill>
              </a:rPr>
              <a:t>Private evidence storage</a:t>
            </a:r>
            <a:endParaRPr lang="en-US" sz="1800" dirty="0"/>
          </a:p>
        </p:txBody>
      </p:sp>
      <p:sp>
        <p:nvSpPr>
          <p:cNvPr id="23" name="Private evidence storage text"/>
          <p:cNvSpPr txBox="1"/>
          <p:nvPr/>
        </p:nvSpPr>
        <p:spPr>
          <a:xfrm>
            <a:off x="4663440" y="5120640"/>
            <a:ext cx="3063240" cy="777240"/>
          </a:xfrm>
          <a:prstGeom prst="rect">
            <a:avLst/>
          </a:prstGeom>
          <a:noFill/>
          <a:ln/>
        </p:spPr>
        <p:txBody>
          <a:bodyPr wrap="square" lIns="0" tIns="0" rIns="0" bIns="0" rtlCol="0" anchor="t"/>
          <a:lstStyle/>
          <a:p>
            <a:pPr indent="0" marL="0">
              <a:buNone/>
            </a:pPr>
            <a:r>
              <a:rPr lang="en-US" sz="1400" dirty="0">
                <a:solidFill>
                  <a:schemeClr val="tx1"/>
                </a:solidFill>
              </a:rPr>
              <a:t>Original files stay in a private store with row-level security; secrets stay out of code.</a:t>
            </a:r>
            <a:endParaRPr lang="en-US" sz="1400" dirty="0"/>
          </a:p>
        </p:txBody>
      </p:sp>
      <p:sp>
        <p:nvSpPr>
          <p:cNvPr id="24" name="audit stat card"/>
          <p:cNvSpPr/>
          <p:nvPr/>
        </p:nvSpPr>
        <p:spPr>
          <a:xfrm>
            <a:off x="8412480" y="1554480"/>
            <a:ext cx="3200400" cy="4434840"/>
          </a:xfrm>
          <a:prstGeom prst="roundRect">
            <a:avLst>
              <a:gd name="adj" fmla="val 3429"/>
            </a:avLst>
          </a:prstGeom>
          <a:solidFill>
            <a:schemeClr val="tx2"/>
          </a:solidFill>
          <a:ln w="12700">
            <a:solidFill>
              <a:schemeClr val="tx2"/>
            </a:solidFill>
            <a:prstDash val="solid"/>
          </a:ln>
        </p:spPr>
      </p:sp>
      <p:sp>
        <p:nvSpPr>
          <p:cNvPr id="25" name="audit stat value"/>
          <p:cNvSpPr txBox="1"/>
          <p:nvPr/>
        </p:nvSpPr>
        <p:spPr>
          <a:xfrm>
            <a:off x="8641080" y="2377440"/>
            <a:ext cx="2743200" cy="1005840"/>
          </a:xfrm>
          <a:prstGeom prst="rect">
            <a:avLst/>
          </a:prstGeom>
          <a:noFill/>
          <a:ln/>
        </p:spPr>
        <p:txBody>
          <a:bodyPr wrap="square" lIns="0" tIns="0" rIns="0" bIns="0" rtlCol="0" anchor="t"/>
          <a:lstStyle/>
          <a:p>
            <a:pPr algn="ctr" indent="0" marL="0">
              <a:buNone/>
            </a:pPr>
            <a:r>
              <a:rPr lang="en-US" sz="5400" b="1" dirty="0">
                <a:solidFill>
                  <a:schemeClr val="accent2"/>
                </a:solidFill>
              </a:rPr>
              <a:t>3,256</a:t>
            </a:r>
            <a:endParaRPr lang="en-US" sz="5400" dirty="0"/>
          </a:p>
        </p:txBody>
      </p:sp>
      <p:sp>
        <p:nvSpPr>
          <p:cNvPr id="26" name="audit stat label"/>
          <p:cNvSpPr txBox="1"/>
          <p:nvPr/>
        </p:nvSpPr>
        <p:spPr>
          <a:xfrm>
            <a:off x="8641080" y="3429000"/>
            <a:ext cx="2743200" cy="457200"/>
          </a:xfrm>
          <a:prstGeom prst="rect">
            <a:avLst/>
          </a:prstGeom>
          <a:noFill/>
          <a:ln/>
        </p:spPr>
        <p:txBody>
          <a:bodyPr wrap="square" lIns="0" tIns="0" rIns="0" bIns="0" rtlCol="0" anchor="t"/>
          <a:lstStyle/>
          <a:p>
            <a:pPr algn="ctr" indent="0" marL="0">
              <a:buNone/>
            </a:pPr>
            <a:r>
              <a:rPr lang="en-US" sz="1600" dirty="0">
                <a:solidFill>
                  <a:schemeClr val="bg2"/>
                </a:solidFill>
              </a:rPr>
              <a:t>audit entries recorded</a:t>
            </a:r>
            <a:endParaRPr lang="en-US" sz="1600" dirty="0"/>
          </a:p>
        </p:txBody>
      </p:sp>
      <p:sp>
        <p:nvSpPr>
          <p:cNvPr id="27" name="audit stat note"/>
          <p:cNvSpPr txBox="1"/>
          <p:nvPr/>
        </p:nvSpPr>
        <p:spPr>
          <a:xfrm>
            <a:off x="8686800" y="4160520"/>
            <a:ext cx="2651760" cy="1097280"/>
          </a:xfrm>
          <a:prstGeom prst="rect">
            <a:avLst/>
          </a:prstGeom>
          <a:noFill/>
          <a:ln/>
        </p:spPr>
        <p:txBody>
          <a:bodyPr wrap="square" lIns="0" tIns="0" rIns="0" bIns="0" rtlCol="0" anchor="t"/>
          <a:lstStyle/>
          <a:p>
            <a:pPr algn="ctr" indent="0" marL="0">
              <a:buNone/>
            </a:pPr>
            <a:r>
              <a:rPr lang="en-US" sz="1400" dirty="0">
                <a:solidFill>
                  <a:schemeClr val="bg2"/>
                </a:solidFill>
              </a:rPr>
              <a:t>Every important action is attributable to an officer and time.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nchor="ctr"/>
          <a:lstStyle/>
          <a:p>
            <a:pPr algn="l" indent="0" marL="0">
              <a:buNone/>
            </a:pPr>
            <a:r>
              <a:rPr lang="en-US" sz="3200" b="1" dirty="0">
                <a:solidFill>
                  <a:schemeClr val="tx2"/>
                </a:solidFill>
              </a:rPr>
              <a:t>How the system is built</a:t>
            </a:r>
            <a:endParaRPr lang="en-US" sz="3200" dirty="0"/>
          </a:p>
        </p:txBody>
      </p:sp>
      <p:sp>
        <p:nvSpPr>
          <p:cNvPr id="4" name="Officer's browser box"/>
          <p:cNvSpPr/>
          <p:nvPr/>
        </p:nvSpPr>
        <p:spPr>
          <a:xfrm>
            <a:off x="548640" y="1600200"/>
            <a:ext cx="3383280" cy="2834640"/>
          </a:xfrm>
          <a:prstGeom prst="roundRect">
            <a:avLst>
              <a:gd name="adj" fmla="val 3871"/>
            </a:avLst>
          </a:prstGeom>
          <a:solidFill>
            <a:schemeClr val="bg2"/>
          </a:solidFill>
          <a:ln w="12700">
            <a:solidFill>
              <a:schemeClr val="bg2"/>
            </a:solidFill>
            <a:prstDash val="solid"/>
          </a:ln>
        </p:spPr>
      </p:sp>
      <p:sp>
        <p:nvSpPr>
          <p:cNvPr id="5" name="Officer's browser circle"/>
          <p:cNvSpPr/>
          <p:nvPr/>
        </p:nvSpPr>
        <p:spPr>
          <a:xfrm>
            <a:off x="822960" y="1874520"/>
            <a:ext cx="777240" cy="777240"/>
          </a:xfrm>
          <a:prstGeom prst="ellipse">
            <a:avLst/>
          </a:prstGeom>
          <a:solidFill>
            <a:schemeClr val="accent3"/>
          </a:solidFill>
          <a:ln w="12700">
            <a:solidFill>
              <a:schemeClr val="accent3"/>
            </a:solidFill>
            <a:prstDash val="solid"/>
          </a:ln>
        </p:spPr>
      </p:sp>
      <p:pic>
        <p:nvPicPr>
          <p:cNvPr id="6" name="Officer's browser icon" descr="Officer's browser">    </p:cNvPr>
          <p:cNvPicPr>
            <a:picLocks noChangeAspect="1"/>
          </p:cNvPicPr>
          <p:nvPr/>
        </p:nvPicPr>
        <p:blipFill>
          <a:blip r:embed="rId1"/>
          <a:stretch>
            <a:fillRect/>
          </a:stretch>
        </p:blipFill>
        <p:spPr>
          <a:xfrm>
            <a:off x="1009498" y="2061058"/>
            <a:ext cx="404165" cy="404165"/>
          </a:xfrm>
          <a:prstGeom prst="rect">
            <a:avLst/>
          </a:prstGeom>
        </p:spPr>
      </p:pic>
      <p:sp>
        <p:nvSpPr>
          <p:cNvPr id="7" name="Officer&amp;apos;s browser title"/>
          <p:cNvSpPr txBox="1"/>
          <p:nvPr/>
        </p:nvSpPr>
        <p:spPr>
          <a:xfrm>
            <a:off x="1737360" y="1920240"/>
            <a:ext cx="2011680" cy="685800"/>
          </a:xfrm>
          <a:prstGeom prst="rect">
            <a:avLst/>
          </a:prstGeom>
          <a:noFill/>
          <a:ln/>
        </p:spPr>
        <p:txBody>
          <a:bodyPr wrap="square" lIns="0" tIns="0" rIns="0" bIns="0" rtlCol="0" anchor="ctr"/>
          <a:lstStyle/>
          <a:p>
            <a:pPr indent="0" marL="0">
              <a:buNone/>
            </a:pPr>
            <a:r>
              <a:rPr lang="en-US" sz="1900" b="1" dirty="0">
                <a:solidFill>
                  <a:schemeClr val="tx2"/>
                </a:solidFill>
              </a:rPr>
              <a:t>Officer's browser</a:t>
            </a:r>
            <a:endParaRPr lang="en-US" sz="1900" dirty="0"/>
          </a:p>
        </p:txBody>
      </p:sp>
      <p:sp>
        <p:nvSpPr>
          <p:cNvPr id="8" name="Officer's browser list"/>
          <p:cNvSpPr txBox="1"/>
          <p:nvPr/>
        </p:nvSpPr>
        <p:spPr>
          <a:xfrm>
            <a:off x="822960" y="2834640"/>
            <a:ext cx="2834640" cy="14630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React + Vite interface</a:t>
            </a:r>
            <a:endParaRPr lang="en-US" sz="1500" dirty="0"/>
          </a:p>
          <a:p>
            <a:pPr marL="342900" indent="-342900">
              <a:spcAft>
                <a:spcPts val="600"/>
              </a:spcAft>
              <a:buSzPct val="100000"/>
              <a:buChar char="•"/>
            </a:pPr>
            <a:r>
              <a:rPr lang="en-US" sz="1500" dirty="0">
                <a:solidFill>
                  <a:schemeClr val="tx1"/>
                </a:solidFill>
              </a:rPr>
              <a:t>English, Telugu, Hindi</a:t>
            </a:r>
            <a:endParaRPr lang="en-US" sz="1500" dirty="0"/>
          </a:p>
          <a:p>
            <a:pPr marL="342900" indent="-342900">
              <a:spcAft>
                <a:spcPts val="600"/>
              </a:spcAft>
              <a:buSzPct val="100000"/>
              <a:buChar char="•"/>
            </a:pPr>
            <a:r>
              <a:rPr lang="en-US" sz="1500" dirty="0">
                <a:solidFill>
                  <a:schemeClr val="tx1"/>
                </a:solidFill>
              </a:rPr>
              <a:t>Voice assistant (browser speech)</a:t>
            </a:r>
            <a:endParaRPr lang="en-US" sz="1500" dirty="0"/>
          </a:p>
        </p:txBody>
      </p:sp>
      <p:sp>
        <p:nvSpPr>
          <p:cNvPr id="9" name="arrow 0"/>
          <p:cNvSpPr/>
          <p:nvPr/>
        </p:nvSpPr>
        <p:spPr>
          <a:xfrm>
            <a:off x="4005072" y="2788920"/>
            <a:ext cx="310896" cy="457200"/>
          </a:xfrm>
          <a:prstGeom prst="rightArrow">
            <a:avLst/>
          </a:prstGeom>
          <a:solidFill>
            <a:schemeClr val="accent6"/>
          </a:solidFill>
          <a:ln w="12700">
            <a:solidFill>
              <a:schemeClr val="accent6"/>
            </a:solidFill>
            <a:prstDash val="solid"/>
          </a:ln>
        </p:spPr>
      </p:sp>
      <p:sp>
        <p:nvSpPr>
          <p:cNvPr id="10" name="FastAPI backend box"/>
          <p:cNvSpPr/>
          <p:nvPr/>
        </p:nvSpPr>
        <p:spPr>
          <a:xfrm>
            <a:off x="4389120" y="1600200"/>
            <a:ext cx="3383280" cy="2834640"/>
          </a:xfrm>
          <a:prstGeom prst="roundRect">
            <a:avLst>
              <a:gd name="adj" fmla="val 3871"/>
            </a:avLst>
          </a:prstGeom>
          <a:solidFill>
            <a:schemeClr val="bg2"/>
          </a:solidFill>
          <a:ln w="12700">
            <a:solidFill>
              <a:schemeClr val="bg2"/>
            </a:solidFill>
            <a:prstDash val="solid"/>
          </a:ln>
        </p:spPr>
      </p:sp>
      <p:sp>
        <p:nvSpPr>
          <p:cNvPr id="11" name="FastAPI backend circle"/>
          <p:cNvSpPr/>
          <p:nvPr/>
        </p:nvSpPr>
        <p:spPr>
          <a:xfrm>
            <a:off x="4663440" y="1874520"/>
            <a:ext cx="777240" cy="777240"/>
          </a:xfrm>
          <a:prstGeom prst="ellipse">
            <a:avLst/>
          </a:prstGeom>
          <a:solidFill>
            <a:schemeClr val="accent1"/>
          </a:solidFill>
          <a:ln w="12700">
            <a:solidFill>
              <a:schemeClr val="accent1"/>
            </a:solidFill>
            <a:prstDash val="solid"/>
          </a:ln>
        </p:spPr>
      </p:sp>
      <p:pic>
        <p:nvPicPr>
          <p:cNvPr id="12" name="FastAPI backend icon" descr="FastAPI backend">    </p:cNvPr>
          <p:cNvPicPr>
            <a:picLocks noChangeAspect="1"/>
          </p:cNvPicPr>
          <p:nvPr/>
        </p:nvPicPr>
        <p:blipFill>
          <a:blip r:embed="rId2"/>
          <a:stretch>
            <a:fillRect/>
          </a:stretch>
        </p:blipFill>
        <p:spPr>
          <a:xfrm>
            <a:off x="4849978" y="2061058"/>
            <a:ext cx="404165" cy="404165"/>
          </a:xfrm>
          <a:prstGeom prst="rect">
            <a:avLst/>
          </a:prstGeom>
        </p:spPr>
      </p:pic>
      <p:sp>
        <p:nvSpPr>
          <p:cNvPr id="13" name="FastAPI backend title"/>
          <p:cNvSpPr txBox="1"/>
          <p:nvPr/>
        </p:nvSpPr>
        <p:spPr>
          <a:xfrm>
            <a:off x="5577840" y="1920240"/>
            <a:ext cx="2011680" cy="685800"/>
          </a:xfrm>
          <a:prstGeom prst="rect">
            <a:avLst/>
          </a:prstGeom>
          <a:noFill/>
          <a:ln/>
        </p:spPr>
        <p:txBody>
          <a:bodyPr wrap="square" lIns="0" tIns="0" rIns="0" bIns="0" rtlCol="0" anchor="ctr"/>
          <a:lstStyle/>
          <a:p>
            <a:pPr indent="0" marL="0">
              <a:buNone/>
            </a:pPr>
            <a:r>
              <a:rPr lang="en-US" sz="1900" b="1" dirty="0">
                <a:solidFill>
                  <a:schemeClr val="tx2"/>
                </a:solidFill>
              </a:rPr>
              <a:t>FastAPI backend</a:t>
            </a:r>
            <a:endParaRPr lang="en-US" sz="1900" dirty="0"/>
          </a:p>
        </p:txBody>
      </p:sp>
      <p:sp>
        <p:nvSpPr>
          <p:cNvPr id="14" name="FastAPI backend list"/>
          <p:cNvSpPr txBox="1"/>
          <p:nvPr/>
        </p:nvSpPr>
        <p:spPr>
          <a:xfrm>
            <a:off x="4663440" y="2834640"/>
            <a:ext cx="2834640" cy="14630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Authentication and jurisdiction</a:t>
            </a:r>
            <a:endParaRPr lang="en-US" sz="1500" dirty="0"/>
          </a:p>
          <a:p>
            <a:pPr marL="342900" indent="-342900">
              <a:spcAft>
                <a:spcPts val="600"/>
              </a:spcAft>
              <a:buSzPct val="100000"/>
              <a:buChar char="•"/>
            </a:pPr>
            <a:r>
              <a:rPr lang="en-US" sz="1500" dirty="0">
                <a:solidFill>
                  <a:schemeClr val="tx1"/>
                </a:solidFill>
              </a:rPr>
              <a:t>OCR, extraction and indexing</a:t>
            </a:r>
            <a:endParaRPr lang="en-US" sz="1500" dirty="0"/>
          </a:p>
          <a:p>
            <a:pPr marL="342900" indent="-342900">
              <a:spcAft>
                <a:spcPts val="600"/>
              </a:spcAft>
              <a:buSzPct val="100000"/>
              <a:buChar char="•"/>
            </a:pPr>
            <a:r>
              <a:rPr lang="en-US" sz="1500" dirty="0">
                <a:solidFill>
                  <a:schemeClr val="tx1"/>
                </a:solidFill>
              </a:rPr>
              <a:t>Hybrid RAG, summaries, workflow</a:t>
            </a:r>
            <a:endParaRPr lang="en-US" sz="1500" dirty="0"/>
          </a:p>
        </p:txBody>
      </p:sp>
      <p:sp>
        <p:nvSpPr>
          <p:cNvPr id="15" name="arrow 1"/>
          <p:cNvSpPr/>
          <p:nvPr/>
        </p:nvSpPr>
        <p:spPr>
          <a:xfrm>
            <a:off x="7845552" y="2788920"/>
            <a:ext cx="310896" cy="457200"/>
          </a:xfrm>
          <a:prstGeom prst="rightArrow">
            <a:avLst/>
          </a:prstGeom>
          <a:solidFill>
            <a:schemeClr val="accent6"/>
          </a:solidFill>
          <a:ln w="12700">
            <a:solidFill>
              <a:schemeClr val="accent6"/>
            </a:solidFill>
            <a:prstDash val="solid"/>
          </a:ln>
        </p:spPr>
      </p:sp>
      <p:sp>
        <p:nvSpPr>
          <p:cNvPr id="16" name="Supabase box"/>
          <p:cNvSpPr/>
          <p:nvPr/>
        </p:nvSpPr>
        <p:spPr>
          <a:xfrm>
            <a:off x="8229600" y="1600200"/>
            <a:ext cx="3383280" cy="2834640"/>
          </a:xfrm>
          <a:prstGeom prst="roundRect">
            <a:avLst>
              <a:gd name="adj" fmla="val 3871"/>
            </a:avLst>
          </a:prstGeom>
          <a:solidFill>
            <a:schemeClr val="bg2"/>
          </a:solidFill>
          <a:ln w="12700">
            <a:solidFill>
              <a:schemeClr val="bg2"/>
            </a:solidFill>
            <a:prstDash val="solid"/>
          </a:ln>
        </p:spPr>
      </p:sp>
      <p:sp>
        <p:nvSpPr>
          <p:cNvPr id="17" name="Supabase circle"/>
          <p:cNvSpPr/>
          <p:nvPr/>
        </p:nvSpPr>
        <p:spPr>
          <a:xfrm>
            <a:off x="8503920" y="1874520"/>
            <a:ext cx="777240" cy="777240"/>
          </a:xfrm>
          <a:prstGeom prst="ellipse">
            <a:avLst/>
          </a:prstGeom>
          <a:solidFill>
            <a:schemeClr val="tx2"/>
          </a:solidFill>
          <a:ln w="12700">
            <a:solidFill>
              <a:schemeClr val="tx2"/>
            </a:solidFill>
            <a:prstDash val="solid"/>
          </a:ln>
        </p:spPr>
      </p:sp>
      <p:pic>
        <p:nvPicPr>
          <p:cNvPr id="18" name="Supabase icon" descr="Supabase">    </p:cNvPr>
          <p:cNvPicPr>
            <a:picLocks noChangeAspect="1"/>
          </p:cNvPicPr>
          <p:nvPr/>
        </p:nvPicPr>
        <p:blipFill>
          <a:blip r:embed="rId3"/>
          <a:stretch>
            <a:fillRect/>
          </a:stretch>
        </p:blipFill>
        <p:spPr>
          <a:xfrm>
            <a:off x="8690458" y="2061058"/>
            <a:ext cx="404165" cy="404165"/>
          </a:xfrm>
          <a:prstGeom prst="rect">
            <a:avLst/>
          </a:prstGeom>
        </p:spPr>
      </p:pic>
      <p:sp>
        <p:nvSpPr>
          <p:cNvPr id="19" name="Supabase title"/>
          <p:cNvSpPr txBox="1"/>
          <p:nvPr/>
        </p:nvSpPr>
        <p:spPr>
          <a:xfrm>
            <a:off x="9418320" y="1920240"/>
            <a:ext cx="2011680" cy="685800"/>
          </a:xfrm>
          <a:prstGeom prst="rect">
            <a:avLst/>
          </a:prstGeom>
          <a:noFill/>
          <a:ln/>
        </p:spPr>
        <p:txBody>
          <a:bodyPr wrap="square" lIns="0" tIns="0" rIns="0" bIns="0" rtlCol="0" anchor="ctr"/>
          <a:lstStyle/>
          <a:p>
            <a:pPr indent="0" marL="0">
              <a:buNone/>
            </a:pPr>
            <a:r>
              <a:rPr lang="en-US" sz="1900" b="1" dirty="0">
                <a:solidFill>
                  <a:schemeClr val="tx2"/>
                </a:solidFill>
              </a:rPr>
              <a:t>Supabase</a:t>
            </a:r>
            <a:endParaRPr lang="en-US" sz="1900" dirty="0"/>
          </a:p>
        </p:txBody>
      </p:sp>
      <p:sp>
        <p:nvSpPr>
          <p:cNvPr id="20" name="Supabase list"/>
          <p:cNvSpPr txBox="1"/>
          <p:nvPr/>
        </p:nvSpPr>
        <p:spPr>
          <a:xfrm>
            <a:off x="8503920" y="2834640"/>
            <a:ext cx="2834640" cy="14630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PostgreSQL + pgvector</a:t>
            </a:r>
            <a:endParaRPr lang="en-US" sz="1500" dirty="0"/>
          </a:p>
          <a:p>
            <a:pPr marL="342900" indent="-342900">
              <a:spcAft>
                <a:spcPts val="600"/>
              </a:spcAft>
              <a:buSzPct val="100000"/>
              <a:buChar char="•"/>
            </a:pPr>
            <a:r>
              <a:rPr lang="en-US" sz="1500" dirty="0">
                <a:solidFill>
                  <a:schemeClr val="tx1"/>
                </a:solidFill>
              </a:rPr>
              <a:t>Private evidence storage</a:t>
            </a:r>
            <a:endParaRPr lang="en-US" sz="1500" dirty="0"/>
          </a:p>
          <a:p>
            <a:pPr marL="342900" indent="-342900">
              <a:spcAft>
                <a:spcPts val="600"/>
              </a:spcAft>
              <a:buSzPct val="100000"/>
              <a:buChar char="•"/>
            </a:pPr>
            <a:r>
              <a:rPr lang="en-US" sz="1500" dirty="0">
                <a:solidFill>
                  <a:schemeClr val="tx1"/>
                </a:solidFill>
              </a:rPr>
              <a:t>Row-level security</a:t>
            </a:r>
            <a:endParaRPr lang="en-US" sz="1500" dirty="0"/>
          </a:p>
        </p:txBody>
      </p:sp>
      <p:sp>
        <p:nvSpPr>
          <p:cNvPr id="21" name="ai services box"/>
          <p:cNvSpPr/>
          <p:nvPr/>
        </p:nvSpPr>
        <p:spPr>
          <a:xfrm>
            <a:off x="4389120" y="4846320"/>
            <a:ext cx="7223760" cy="1234440"/>
          </a:xfrm>
          <a:prstGeom prst="roundRect">
            <a:avLst>
              <a:gd name="adj" fmla="val 8889"/>
            </a:avLst>
          </a:prstGeom>
          <a:solidFill>
            <a:schemeClr val="bg2"/>
          </a:solidFill>
          <a:ln w="12700">
            <a:solidFill>
              <a:schemeClr val="bg2"/>
            </a:solidFill>
            <a:prstDash val="solid"/>
          </a:ln>
        </p:spPr>
      </p:sp>
      <p:sp>
        <p:nvSpPr>
          <p:cNvPr id="22" name="AI services circle"/>
          <p:cNvSpPr/>
          <p:nvPr/>
        </p:nvSpPr>
        <p:spPr>
          <a:xfrm>
            <a:off x="4617720" y="5029200"/>
            <a:ext cx="868680" cy="868680"/>
          </a:xfrm>
          <a:prstGeom prst="ellipse">
            <a:avLst/>
          </a:prstGeom>
          <a:solidFill>
            <a:schemeClr val="accent2"/>
          </a:solidFill>
          <a:ln w="12700">
            <a:solidFill>
              <a:schemeClr val="accent2"/>
            </a:solidFill>
            <a:prstDash val="solid"/>
          </a:ln>
        </p:spPr>
      </p:sp>
      <p:pic>
        <p:nvPicPr>
          <p:cNvPr id="23" name="AI services icon" descr="AI services">    </p:cNvPr>
          <p:cNvPicPr>
            <a:picLocks noChangeAspect="1"/>
          </p:cNvPicPr>
          <p:nvPr/>
        </p:nvPicPr>
        <p:blipFill>
          <a:blip r:embed="rId4"/>
          <a:stretch>
            <a:fillRect/>
          </a:stretch>
        </p:blipFill>
        <p:spPr>
          <a:xfrm>
            <a:off x="4826203" y="5237683"/>
            <a:ext cx="451714" cy="451714"/>
          </a:xfrm>
          <a:prstGeom prst="rect">
            <a:avLst/>
          </a:prstGeom>
        </p:spPr>
      </p:pic>
      <p:sp>
        <p:nvSpPr>
          <p:cNvPr id="24" name="ai services text"/>
          <p:cNvSpPr txBox="1"/>
          <p:nvPr/>
        </p:nvSpPr>
        <p:spPr>
          <a:xfrm>
            <a:off x="5669280" y="4937760"/>
            <a:ext cx="5760720" cy="1051560"/>
          </a:xfrm>
          <a:prstGeom prst="rect">
            <a:avLst/>
          </a:prstGeom>
          <a:noFill/>
          <a:ln/>
        </p:spPr>
        <p:txBody>
          <a:bodyPr wrap="square" lIns="0" tIns="0" rIns="0" bIns="0" rtlCol="0" anchor="ctr"/>
          <a:lstStyle/>
          <a:p>
            <a:pPr indent="0" marL="0">
              <a:buNone/>
            </a:pPr>
            <a:r>
              <a:rPr lang="en-US" sz="1500" b="1" dirty="0">
                <a:solidFill>
                  <a:schemeClr val="tx2"/>
                </a:solidFill>
              </a:rPr>
              <a:t>AI services, called only by the backend: </a:t>
            </a:r>
            <a:pPr indent="0" marL="0">
              <a:buNone/>
            </a:pPr>
            <a:r>
              <a:rPr lang="en-US" sz="1500" dirty="0">
                <a:solidFill>
                  <a:schemeClr val="tx1"/>
                </a:solidFill>
              </a:rPr>
              <a:t>Google Gemini (text answers, summaries, embeddings) and Sarvam Document AI (document reading).</a:t>
            </a:r>
            <a:endParaRPr lang="en-US" sz="1500" dirty="0"/>
          </a:p>
        </p:txBody>
      </p:sp>
      <p:sp>
        <p:nvSpPr>
          <p:cNvPr id="25" name="ai link"/>
          <p:cNvSpPr/>
          <p:nvPr/>
        </p:nvSpPr>
        <p:spPr>
          <a:xfrm>
            <a:off x="6080760" y="4434840"/>
            <a:ext cx="0" cy="411480"/>
          </a:xfrm>
          <a:prstGeom prst="line">
            <a:avLst/>
          </a:prstGeom>
          <a:noFill/>
          <a:ln w="25400">
            <a:solidFill>
              <a:schemeClr val="accent6"/>
            </a:solidFill>
            <a:prstDash val="dash"/>
          </a:ln>
        </p:spPr>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nchor="ctr"/>
          <a:lstStyle/>
          <a:p>
            <a:pPr algn="l" indent="0" marL="0">
              <a:buNone/>
            </a:pPr>
            <a:r>
              <a:rPr lang="en-US" sz="3200" b="1" dirty="0">
                <a:solidFill>
                  <a:schemeClr val="tx2"/>
                </a:solidFill>
              </a:rPr>
              <a:t>FIR VisionAI today</a:t>
            </a:r>
            <a:endParaRPr lang="en-US" sz="3200" dirty="0"/>
          </a:p>
        </p:txBody>
      </p:sp>
      <p:sp>
        <p:nvSpPr>
          <p:cNvPr id="4" name="stat cases across 11 districts card"/>
          <p:cNvSpPr/>
          <p:nvPr/>
        </p:nvSpPr>
        <p:spPr>
          <a:xfrm>
            <a:off x="548640" y="1554480"/>
            <a:ext cx="2286000" cy="2011680"/>
          </a:xfrm>
          <a:prstGeom prst="roundRect">
            <a:avLst>
              <a:gd name="adj" fmla="val 5455"/>
            </a:avLst>
          </a:prstGeom>
          <a:solidFill>
            <a:schemeClr val="bg2"/>
          </a:solidFill>
          <a:ln w="12700">
            <a:solidFill>
              <a:schemeClr val="bg2"/>
            </a:solidFill>
            <a:prstDash val="solid"/>
          </a:ln>
        </p:spPr>
      </p:sp>
      <p:sp>
        <p:nvSpPr>
          <p:cNvPr id="5" name="stat cases across 11 districts value"/>
          <p:cNvSpPr txBox="1"/>
          <p:nvPr/>
        </p:nvSpPr>
        <p:spPr>
          <a:xfrm>
            <a:off x="777240" y="1828800"/>
            <a:ext cx="1828800" cy="868680"/>
          </a:xfrm>
          <a:prstGeom prst="rect">
            <a:avLst/>
          </a:prstGeom>
          <a:noFill/>
          <a:ln/>
        </p:spPr>
        <p:txBody>
          <a:bodyPr wrap="square" lIns="0" tIns="0" rIns="0" bIns="0" rtlCol="0" anchor="t"/>
          <a:lstStyle/>
          <a:p>
            <a:pPr indent="0" marL="0">
              <a:buNone/>
            </a:pPr>
            <a:r>
              <a:rPr lang="en-US" sz="4400" b="1" dirty="0">
                <a:solidFill>
                  <a:schemeClr val="accent1"/>
                </a:solidFill>
              </a:rPr>
              <a:t>45</a:t>
            </a:r>
            <a:endParaRPr lang="en-US" sz="4400" dirty="0"/>
          </a:p>
        </p:txBody>
      </p:sp>
      <p:sp>
        <p:nvSpPr>
          <p:cNvPr id="6" name="stat cases across 11 districts label"/>
          <p:cNvSpPr txBox="1"/>
          <p:nvPr/>
        </p:nvSpPr>
        <p:spPr>
          <a:xfrm>
            <a:off x="777240" y="2743200"/>
            <a:ext cx="1828800" cy="731520"/>
          </a:xfrm>
          <a:prstGeom prst="rect">
            <a:avLst/>
          </a:prstGeom>
          <a:noFill/>
          <a:ln/>
        </p:spPr>
        <p:txBody>
          <a:bodyPr wrap="square" lIns="0" tIns="0" rIns="0" bIns="0" rtlCol="0" anchor="t"/>
          <a:lstStyle/>
          <a:p>
            <a:pPr indent="0" marL="0">
              <a:buNone/>
            </a:pPr>
            <a:r>
              <a:rPr lang="en-US" sz="1400" dirty="0">
                <a:solidFill>
                  <a:schemeClr val="tx1"/>
                </a:solidFill>
              </a:rPr>
              <a:t>cases across 11 districts</a:t>
            </a:r>
            <a:endParaRPr lang="en-US" sz="1400" dirty="0"/>
          </a:p>
        </p:txBody>
      </p:sp>
      <p:sp>
        <p:nvSpPr>
          <p:cNvPr id="7" name="stat FIR documents processed card"/>
          <p:cNvSpPr/>
          <p:nvPr/>
        </p:nvSpPr>
        <p:spPr>
          <a:xfrm>
            <a:off x="3063240" y="1554480"/>
            <a:ext cx="2286000" cy="2011680"/>
          </a:xfrm>
          <a:prstGeom prst="roundRect">
            <a:avLst>
              <a:gd name="adj" fmla="val 5455"/>
            </a:avLst>
          </a:prstGeom>
          <a:solidFill>
            <a:schemeClr val="bg2"/>
          </a:solidFill>
          <a:ln w="12700">
            <a:solidFill>
              <a:schemeClr val="bg2"/>
            </a:solidFill>
            <a:prstDash val="solid"/>
          </a:ln>
        </p:spPr>
      </p:sp>
      <p:sp>
        <p:nvSpPr>
          <p:cNvPr id="8" name="stat FIR documents processed value"/>
          <p:cNvSpPr txBox="1"/>
          <p:nvPr/>
        </p:nvSpPr>
        <p:spPr>
          <a:xfrm>
            <a:off x="3291840" y="1828800"/>
            <a:ext cx="1828800" cy="868680"/>
          </a:xfrm>
          <a:prstGeom prst="rect">
            <a:avLst/>
          </a:prstGeom>
          <a:noFill/>
          <a:ln/>
        </p:spPr>
        <p:txBody>
          <a:bodyPr wrap="square" lIns="0" tIns="0" rIns="0" bIns="0" rtlCol="0" anchor="t"/>
          <a:lstStyle/>
          <a:p>
            <a:pPr indent="0" marL="0">
              <a:buNone/>
            </a:pPr>
            <a:r>
              <a:rPr lang="en-US" sz="4400" b="1" dirty="0">
                <a:solidFill>
                  <a:schemeClr val="accent1"/>
                </a:solidFill>
              </a:rPr>
              <a:t>46</a:t>
            </a:r>
            <a:endParaRPr lang="en-US" sz="4400" dirty="0"/>
          </a:p>
        </p:txBody>
      </p:sp>
      <p:sp>
        <p:nvSpPr>
          <p:cNvPr id="9" name="stat FIR documents processed label"/>
          <p:cNvSpPr txBox="1"/>
          <p:nvPr/>
        </p:nvSpPr>
        <p:spPr>
          <a:xfrm>
            <a:off x="3291840" y="2743200"/>
            <a:ext cx="1828800" cy="731520"/>
          </a:xfrm>
          <a:prstGeom prst="rect">
            <a:avLst/>
          </a:prstGeom>
          <a:noFill/>
          <a:ln/>
        </p:spPr>
        <p:txBody>
          <a:bodyPr wrap="square" lIns="0" tIns="0" rIns="0" bIns="0" rtlCol="0" anchor="t"/>
          <a:lstStyle/>
          <a:p>
            <a:pPr indent="0" marL="0">
              <a:buNone/>
            </a:pPr>
            <a:r>
              <a:rPr lang="en-US" sz="1400" dirty="0">
                <a:solidFill>
                  <a:schemeClr val="tx1"/>
                </a:solidFill>
              </a:rPr>
              <a:t>FIR documents processed</a:t>
            </a:r>
            <a:endParaRPr lang="en-US" sz="1400" dirty="0"/>
          </a:p>
        </p:txBody>
      </p:sp>
      <p:sp>
        <p:nvSpPr>
          <p:cNvPr id="10" name="stat records summarised in 3 languages card"/>
          <p:cNvSpPr/>
          <p:nvPr/>
        </p:nvSpPr>
        <p:spPr>
          <a:xfrm>
            <a:off x="5577840" y="1554480"/>
            <a:ext cx="2286000" cy="2011680"/>
          </a:xfrm>
          <a:prstGeom prst="roundRect">
            <a:avLst>
              <a:gd name="adj" fmla="val 5455"/>
            </a:avLst>
          </a:prstGeom>
          <a:solidFill>
            <a:schemeClr val="bg2"/>
          </a:solidFill>
          <a:ln w="12700">
            <a:solidFill>
              <a:schemeClr val="bg2"/>
            </a:solidFill>
            <a:prstDash val="solid"/>
          </a:ln>
        </p:spPr>
      </p:sp>
      <p:sp>
        <p:nvSpPr>
          <p:cNvPr id="11" name="stat records summarised in 3 languages value"/>
          <p:cNvSpPr txBox="1"/>
          <p:nvPr/>
        </p:nvSpPr>
        <p:spPr>
          <a:xfrm>
            <a:off x="5806440" y="1828800"/>
            <a:ext cx="1828800" cy="868680"/>
          </a:xfrm>
          <a:prstGeom prst="rect">
            <a:avLst/>
          </a:prstGeom>
          <a:noFill/>
          <a:ln/>
        </p:spPr>
        <p:txBody>
          <a:bodyPr wrap="square" lIns="0" tIns="0" rIns="0" bIns="0" rtlCol="0" anchor="t"/>
          <a:lstStyle/>
          <a:p>
            <a:pPr indent="0" marL="0">
              <a:buNone/>
            </a:pPr>
            <a:r>
              <a:rPr lang="en-US" sz="4400" b="1" dirty="0">
                <a:solidFill>
                  <a:schemeClr val="accent1"/>
                </a:solidFill>
              </a:rPr>
              <a:t>46</a:t>
            </a:r>
            <a:endParaRPr lang="en-US" sz="4400" dirty="0"/>
          </a:p>
        </p:txBody>
      </p:sp>
      <p:sp>
        <p:nvSpPr>
          <p:cNvPr id="12" name="stat records summarised in 3 languages label"/>
          <p:cNvSpPr txBox="1"/>
          <p:nvPr/>
        </p:nvSpPr>
        <p:spPr>
          <a:xfrm>
            <a:off x="5806440" y="2743200"/>
            <a:ext cx="1828800" cy="731520"/>
          </a:xfrm>
          <a:prstGeom prst="rect">
            <a:avLst/>
          </a:prstGeom>
          <a:noFill/>
          <a:ln/>
        </p:spPr>
        <p:txBody>
          <a:bodyPr wrap="square" lIns="0" tIns="0" rIns="0" bIns="0" rtlCol="0" anchor="t"/>
          <a:lstStyle/>
          <a:p>
            <a:pPr indent="0" marL="0">
              <a:buNone/>
            </a:pPr>
            <a:r>
              <a:rPr lang="en-US" sz="1400" dirty="0">
                <a:solidFill>
                  <a:schemeClr val="tx1"/>
                </a:solidFill>
              </a:rPr>
              <a:t>records summarised in 3 languages</a:t>
            </a:r>
            <a:endParaRPr lang="en-US" sz="1400" dirty="0"/>
          </a:p>
        </p:txBody>
      </p:sp>
      <p:sp>
        <p:nvSpPr>
          <p:cNvPr id="13" name="stat audit entries card"/>
          <p:cNvSpPr/>
          <p:nvPr/>
        </p:nvSpPr>
        <p:spPr>
          <a:xfrm>
            <a:off x="548640" y="3794760"/>
            <a:ext cx="2286000" cy="2011680"/>
          </a:xfrm>
          <a:prstGeom prst="roundRect">
            <a:avLst>
              <a:gd name="adj" fmla="val 5455"/>
            </a:avLst>
          </a:prstGeom>
          <a:solidFill>
            <a:schemeClr val="bg2"/>
          </a:solidFill>
          <a:ln w="12700">
            <a:solidFill>
              <a:schemeClr val="bg2"/>
            </a:solidFill>
            <a:prstDash val="solid"/>
          </a:ln>
        </p:spPr>
      </p:sp>
      <p:sp>
        <p:nvSpPr>
          <p:cNvPr id="14" name="stat audit entries value"/>
          <p:cNvSpPr txBox="1"/>
          <p:nvPr/>
        </p:nvSpPr>
        <p:spPr>
          <a:xfrm>
            <a:off x="777240" y="4069080"/>
            <a:ext cx="1828800" cy="868680"/>
          </a:xfrm>
          <a:prstGeom prst="rect">
            <a:avLst/>
          </a:prstGeom>
          <a:noFill/>
          <a:ln/>
        </p:spPr>
        <p:txBody>
          <a:bodyPr wrap="square" lIns="0" tIns="0" rIns="0" bIns="0" rtlCol="0" anchor="t"/>
          <a:lstStyle/>
          <a:p>
            <a:pPr indent="0" marL="0">
              <a:buNone/>
            </a:pPr>
            <a:r>
              <a:rPr lang="en-US" sz="4400" b="1" dirty="0">
                <a:solidFill>
                  <a:schemeClr val="accent1"/>
                </a:solidFill>
              </a:rPr>
              <a:t>3,256</a:t>
            </a:r>
            <a:endParaRPr lang="en-US" sz="4400" dirty="0"/>
          </a:p>
        </p:txBody>
      </p:sp>
      <p:sp>
        <p:nvSpPr>
          <p:cNvPr id="15" name="stat audit entries label"/>
          <p:cNvSpPr txBox="1"/>
          <p:nvPr/>
        </p:nvSpPr>
        <p:spPr>
          <a:xfrm>
            <a:off x="777240" y="4983480"/>
            <a:ext cx="1828800" cy="731520"/>
          </a:xfrm>
          <a:prstGeom prst="rect">
            <a:avLst/>
          </a:prstGeom>
          <a:noFill/>
          <a:ln/>
        </p:spPr>
        <p:txBody>
          <a:bodyPr wrap="square" lIns="0" tIns="0" rIns="0" bIns="0" rtlCol="0" anchor="t"/>
          <a:lstStyle/>
          <a:p>
            <a:pPr indent="0" marL="0">
              <a:buNone/>
            </a:pPr>
            <a:r>
              <a:rPr lang="en-US" sz="1400" dirty="0">
                <a:solidFill>
                  <a:schemeClr val="tx1"/>
                </a:solidFill>
              </a:rPr>
              <a:t>audit entries</a:t>
            </a:r>
            <a:endParaRPr lang="en-US" sz="1400" dirty="0"/>
          </a:p>
        </p:txBody>
      </p:sp>
      <p:sp>
        <p:nvSpPr>
          <p:cNvPr id="16" name="stat automated backend tests passing card"/>
          <p:cNvSpPr/>
          <p:nvPr/>
        </p:nvSpPr>
        <p:spPr>
          <a:xfrm>
            <a:off x="3063240" y="3794760"/>
            <a:ext cx="2286000" cy="2011680"/>
          </a:xfrm>
          <a:prstGeom prst="roundRect">
            <a:avLst>
              <a:gd name="adj" fmla="val 5455"/>
            </a:avLst>
          </a:prstGeom>
          <a:solidFill>
            <a:schemeClr val="bg2"/>
          </a:solidFill>
          <a:ln w="12700">
            <a:solidFill>
              <a:schemeClr val="bg2"/>
            </a:solidFill>
            <a:prstDash val="solid"/>
          </a:ln>
        </p:spPr>
      </p:sp>
      <p:sp>
        <p:nvSpPr>
          <p:cNvPr id="17" name="stat automated backend tests passing value"/>
          <p:cNvSpPr txBox="1"/>
          <p:nvPr/>
        </p:nvSpPr>
        <p:spPr>
          <a:xfrm>
            <a:off x="3291840" y="4069080"/>
            <a:ext cx="1828800" cy="868680"/>
          </a:xfrm>
          <a:prstGeom prst="rect">
            <a:avLst/>
          </a:prstGeom>
          <a:noFill/>
          <a:ln/>
        </p:spPr>
        <p:txBody>
          <a:bodyPr wrap="square" lIns="0" tIns="0" rIns="0" bIns="0" rtlCol="0" anchor="t"/>
          <a:lstStyle/>
          <a:p>
            <a:pPr indent="0" marL="0">
              <a:buNone/>
            </a:pPr>
            <a:r>
              <a:rPr lang="en-US" sz="4400" b="1" dirty="0">
                <a:solidFill>
                  <a:schemeClr val="accent1"/>
                </a:solidFill>
              </a:rPr>
              <a:t>156</a:t>
            </a:r>
            <a:endParaRPr lang="en-US" sz="4400" dirty="0"/>
          </a:p>
        </p:txBody>
      </p:sp>
      <p:sp>
        <p:nvSpPr>
          <p:cNvPr id="18" name="stat automated backend tests passing label"/>
          <p:cNvSpPr txBox="1"/>
          <p:nvPr/>
        </p:nvSpPr>
        <p:spPr>
          <a:xfrm>
            <a:off x="3291840" y="4983480"/>
            <a:ext cx="1828800" cy="731520"/>
          </a:xfrm>
          <a:prstGeom prst="rect">
            <a:avLst/>
          </a:prstGeom>
          <a:noFill/>
          <a:ln/>
        </p:spPr>
        <p:txBody>
          <a:bodyPr wrap="square" lIns="0" tIns="0" rIns="0" bIns="0" rtlCol="0" anchor="t"/>
          <a:lstStyle/>
          <a:p>
            <a:pPr indent="0" marL="0">
              <a:buNone/>
            </a:pPr>
            <a:r>
              <a:rPr lang="en-US" sz="1400" dirty="0">
                <a:solidFill>
                  <a:schemeClr val="tx1"/>
                </a:solidFill>
              </a:rPr>
              <a:t>automated backend tests passing</a:t>
            </a:r>
            <a:endParaRPr lang="en-US" sz="1400" dirty="0"/>
          </a:p>
        </p:txBody>
      </p:sp>
      <p:sp>
        <p:nvSpPr>
          <p:cNvPr id="19" name="stat narrated video guides (EN, TE) card"/>
          <p:cNvSpPr/>
          <p:nvPr/>
        </p:nvSpPr>
        <p:spPr>
          <a:xfrm>
            <a:off x="5577840" y="3794760"/>
            <a:ext cx="2286000" cy="2011680"/>
          </a:xfrm>
          <a:prstGeom prst="roundRect">
            <a:avLst>
              <a:gd name="adj" fmla="val 5455"/>
            </a:avLst>
          </a:prstGeom>
          <a:solidFill>
            <a:schemeClr val="bg2"/>
          </a:solidFill>
          <a:ln w="12700">
            <a:solidFill>
              <a:schemeClr val="bg2"/>
            </a:solidFill>
            <a:prstDash val="solid"/>
          </a:ln>
        </p:spPr>
      </p:sp>
      <p:sp>
        <p:nvSpPr>
          <p:cNvPr id="20" name="stat narrated video guides (EN, TE) value"/>
          <p:cNvSpPr txBox="1"/>
          <p:nvPr/>
        </p:nvSpPr>
        <p:spPr>
          <a:xfrm>
            <a:off x="5806440" y="4069080"/>
            <a:ext cx="1828800" cy="868680"/>
          </a:xfrm>
          <a:prstGeom prst="rect">
            <a:avLst/>
          </a:prstGeom>
          <a:noFill/>
          <a:ln/>
        </p:spPr>
        <p:txBody>
          <a:bodyPr wrap="square" lIns="0" tIns="0" rIns="0" bIns="0" rtlCol="0" anchor="t"/>
          <a:lstStyle/>
          <a:p>
            <a:pPr indent="0" marL="0">
              <a:buNone/>
            </a:pPr>
            <a:r>
              <a:rPr lang="en-US" sz="4400" b="1" dirty="0">
                <a:solidFill>
                  <a:schemeClr val="accent1"/>
                </a:solidFill>
              </a:rPr>
              <a:t>2</a:t>
            </a:r>
            <a:endParaRPr lang="en-US" sz="4400" dirty="0"/>
          </a:p>
        </p:txBody>
      </p:sp>
      <p:sp>
        <p:nvSpPr>
          <p:cNvPr id="21" name="stat narrated video guides (EN, TE) label"/>
          <p:cNvSpPr txBox="1"/>
          <p:nvPr/>
        </p:nvSpPr>
        <p:spPr>
          <a:xfrm>
            <a:off x="5806440" y="4983480"/>
            <a:ext cx="1828800" cy="731520"/>
          </a:xfrm>
          <a:prstGeom prst="rect">
            <a:avLst/>
          </a:prstGeom>
          <a:noFill/>
          <a:ln/>
        </p:spPr>
        <p:txBody>
          <a:bodyPr wrap="square" lIns="0" tIns="0" rIns="0" bIns="0" rtlCol="0" anchor="t"/>
          <a:lstStyle/>
          <a:p>
            <a:pPr indent="0" marL="0">
              <a:buNone/>
            </a:pPr>
            <a:r>
              <a:rPr lang="en-US" sz="1400" dirty="0">
                <a:solidFill>
                  <a:schemeClr val="tx1"/>
                </a:solidFill>
              </a:rPr>
              <a:t>narrated video guides (EN, TE)</a:t>
            </a:r>
            <a:endParaRPr lang="en-US" sz="1400" dirty="0"/>
          </a:p>
        </p:txBody>
      </p:sp>
      <p:graphicFrame>
        <p:nvGraphicFramePr>
          <p:cNvPr id="22" name="cases by status chart" descr=""/>
          <p:cNvGraphicFramePr/>
          <p:nvPr/>
        </p:nvGraphicFramePr>
        <p:xfrm>
          <a:off x="8183880" y="1463040"/>
          <a:ext cx="3474720" cy="448056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nchor="ctr"/>
          <a:lstStyle/>
          <a:p>
            <a:pPr algn="l" indent="0" marL="0">
              <a:buNone/>
            </a:pPr>
            <a:r>
              <a:rPr lang="en-US" sz="3200" b="1" dirty="0">
                <a:solidFill>
                  <a:schemeClr val="tx2"/>
                </a:solidFill>
              </a:rPr>
              <a:t>Next steps</a:t>
            </a:r>
            <a:endParaRPr lang="en-US" sz="3200" dirty="0"/>
          </a:p>
        </p:txBody>
      </p:sp>
      <p:sp>
        <p:nvSpPr>
          <p:cNvPr id="4" name="next steps takeaway"/>
          <p:cNvSpPr/>
          <p:nvPr/>
        </p:nvSpPr>
        <p:spPr>
          <a:xfrm>
            <a:off x="548640" y="5257800"/>
            <a:ext cx="11064240" cy="868680"/>
          </a:xfrm>
          <a:prstGeom prst="roundRect">
            <a:avLst>
              <a:gd name="adj" fmla="val 12632"/>
            </a:avLst>
          </a:prstGeom>
          <a:solidFill>
            <a:schemeClr val="tx2"/>
          </a:solidFill>
          <a:ln w="12700">
            <a:solidFill>
              <a:schemeClr val="tx2"/>
            </a:solidFill>
            <a:prstDash val="solid"/>
          </a:ln>
        </p:spPr>
      </p:sp>
      <p:sp>
        <p:nvSpPr>
          <p:cNvPr id="5" name="next steps takeaway text"/>
          <p:cNvSpPr txBox="1"/>
          <p:nvPr/>
        </p:nvSpPr>
        <p:spPr>
          <a:xfrm>
            <a:off x="868680" y="5257800"/>
            <a:ext cx="10424160" cy="868680"/>
          </a:xfrm>
          <a:prstGeom prst="rect">
            <a:avLst/>
          </a:prstGeom>
          <a:noFill/>
          <a:ln/>
        </p:spPr>
        <p:txBody>
          <a:bodyPr wrap="square" lIns="0" tIns="0" rIns="0" bIns="0" rtlCol="0" anchor="ctr"/>
          <a:lstStyle/>
          <a:p>
            <a:pPr indent="0" marL="0">
              <a:buNone/>
            </a:pPr>
            <a:r>
              <a:rPr lang="en-US" sz="1600" dirty="0">
                <a:solidFill>
                  <a:schemeClr val="bg1"/>
                </a:solidFill>
              </a:rPr>
              <a:t>Everything above builds on the running system: no step requires rebuilding existing modules or data.</a:t>
            </a:r>
            <a:endParaRPr lang="en-US" sz="1600" dirty="0"/>
          </a:p>
        </p:txBody>
      </p:sp>
      <p:sp>
        <p:nvSpPr>
          <p:cNvPr id="6" name="Now card"/>
          <p:cNvSpPr/>
          <p:nvPr/>
        </p:nvSpPr>
        <p:spPr>
          <a:xfrm>
            <a:off x="548640" y="1600200"/>
            <a:ext cx="3520440" cy="3383280"/>
          </a:xfrm>
          <a:prstGeom prst="roundRect">
            <a:avLst>
              <a:gd name="adj" fmla="val 3243"/>
            </a:avLst>
          </a:prstGeom>
          <a:solidFill>
            <a:schemeClr val="bg2"/>
          </a:solidFill>
          <a:ln w="12700">
            <a:solidFill>
              <a:schemeClr val="bg2"/>
            </a:solidFill>
            <a:prstDash val="solid"/>
          </a:ln>
        </p:spPr>
      </p:sp>
      <p:sp>
        <p:nvSpPr>
          <p:cNvPr id="7" name="Now circle"/>
          <p:cNvSpPr/>
          <p:nvPr/>
        </p:nvSpPr>
        <p:spPr>
          <a:xfrm>
            <a:off x="868680" y="1965960"/>
            <a:ext cx="914400" cy="914400"/>
          </a:xfrm>
          <a:prstGeom prst="ellipse">
            <a:avLst/>
          </a:prstGeom>
          <a:solidFill>
            <a:schemeClr val="accent1"/>
          </a:solidFill>
          <a:ln w="12700">
            <a:solidFill>
              <a:schemeClr val="accent1"/>
            </a:solidFill>
            <a:prstDash val="solid"/>
          </a:ln>
        </p:spPr>
      </p:sp>
      <p:pic>
        <p:nvPicPr>
          <p:cNvPr id="8" name="Now icon" descr="Now">    </p:cNvPr>
          <p:cNvPicPr>
            <a:picLocks noChangeAspect="1"/>
          </p:cNvPicPr>
          <p:nvPr/>
        </p:nvPicPr>
        <p:blipFill>
          <a:blip r:embed="rId1"/>
          <a:stretch>
            <a:fillRect/>
          </a:stretch>
        </p:blipFill>
        <p:spPr>
          <a:xfrm>
            <a:off x="1088136" y="2185416"/>
            <a:ext cx="475488" cy="475488"/>
          </a:xfrm>
          <a:prstGeom prst="rect">
            <a:avLst/>
          </a:prstGeom>
        </p:spPr>
      </p:pic>
      <p:sp>
        <p:nvSpPr>
          <p:cNvPr id="9" name="Now title"/>
          <p:cNvSpPr txBox="1"/>
          <p:nvPr/>
        </p:nvSpPr>
        <p:spPr>
          <a:xfrm>
            <a:off x="2011680" y="2057400"/>
            <a:ext cx="1783080" cy="731520"/>
          </a:xfrm>
          <a:prstGeom prst="rect">
            <a:avLst/>
          </a:prstGeom>
          <a:noFill/>
          <a:ln/>
        </p:spPr>
        <p:txBody>
          <a:bodyPr wrap="square" lIns="0" tIns="0" rIns="0" bIns="0" rtlCol="0" anchor="ctr"/>
          <a:lstStyle/>
          <a:p>
            <a:pPr indent="0" marL="0">
              <a:buNone/>
            </a:pPr>
            <a:r>
              <a:rPr lang="en-US" sz="2600" b="1" dirty="0">
                <a:solidFill>
                  <a:schemeClr val="tx2"/>
                </a:solidFill>
              </a:rPr>
              <a:t>Now</a:t>
            </a:r>
            <a:endParaRPr lang="en-US" sz="2600" dirty="0"/>
          </a:p>
        </p:txBody>
      </p:sp>
      <p:sp>
        <p:nvSpPr>
          <p:cNvPr id="10" name="Now list"/>
          <p:cNvSpPr txBox="1"/>
          <p:nvPr/>
        </p:nvSpPr>
        <p:spPr>
          <a:xfrm>
            <a:off x="868680" y="3108960"/>
            <a:ext cx="2880360" cy="17373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Finish the semantic index (daily job, about three runs)</a:t>
            </a:r>
            <a:endParaRPr lang="en-US" sz="1600" dirty="0"/>
          </a:p>
          <a:p>
            <a:pPr marL="342900" indent="-342900">
              <a:spcAft>
                <a:spcPts val="1000"/>
              </a:spcAft>
              <a:buSzPct val="100000"/>
              <a:buChar char="•"/>
            </a:pPr>
            <a:r>
              <a:rPr lang="en-US" sz="1600" dirty="0">
                <a:solidFill>
                  <a:schemeClr val="tx1"/>
                </a:solidFill>
              </a:rPr>
              <a:t>Run OCR or review on 23 records</a:t>
            </a:r>
            <a:endParaRPr lang="en-US" sz="1600" dirty="0"/>
          </a:p>
        </p:txBody>
      </p:sp>
      <p:sp>
        <p:nvSpPr>
          <p:cNvPr id="11" name="Next card"/>
          <p:cNvSpPr/>
          <p:nvPr/>
        </p:nvSpPr>
        <p:spPr>
          <a:xfrm>
            <a:off x="4297680" y="1600200"/>
            <a:ext cx="3520440" cy="3383280"/>
          </a:xfrm>
          <a:prstGeom prst="roundRect">
            <a:avLst>
              <a:gd name="adj" fmla="val 3243"/>
            </a:avLst>
          </a:prstGeom>
          <a:solidFill>
            <a:schemeClr val="bg2"/>
          </a:solidFill>
          <a:ln w="12700">
            <a:solidFill>
              <a:schemeClr val="bg2"/>
            </a:solidFill>
            <a:prstDash val="solid"/>
          </a:ln>
        </p:spPr>
      </p:sp>
      <p:sp>
        <p:nvSpPr>
          <p:cNvPr id="12" name="Next circle"/>
          <p:cNvSpPr/>
          <p:nvPr/>
        </p:nvSpPr>
        <p:spPr>
          <a:xfrm>
            <a:off x="4617720" y="1965960"/>
            <a:ext cx="914400" cy="914400"/>
          </a:xfrm>
          <a:prstGeom prst="ellipse">
            <a:avLst/>
          </a:prstGeom>
          <a:solidFill>
            <a:schemeClr val="accent3"/>
          </a:solidFill>
          <a:ln w="12700">
            <a:solidFill>
              <a:schemeClr val="accent3"/>
            </a:solidFill>
            <a:prstDash val="solid"/>
          </a:ln>
        </p:spPr>
      </p:sp>
      <p:pic>
        <p:nvPicPr>
          <p:cNvPr id="13" name="Next icon" descr="Next">    </p:cNvPr>
          <p:cNvPicPr>
            <a:picLocks noChangeAspect="1"/>
          </p:cNvPicPr>
          <p:nvPr/>
        </p:nvPicPr>
        <p:blipFill>
          <a:blip r:embed="rId2"/>
          <a:stretch>
            <a:fillRect/>
          </a:stretch>
        </p:blipFill>
        <p:spPr>
          <a:xfrm>
            <a:off x="4837176" y="2185416"/>
            <a:ext cx="475488" cy="475488"/>
          </a:xfrm>
          <a:prstGeom prst="rect">
            <a:avLst/>
          </a:prstGeom>
        </p:spPr>
      </p:pic>
      <p:sp>
        <p:nvSpPr>
          <p:cNvPr id="14" name="Next title"/>
          <p:cNvSpPr txBox="1"/>
          <p:nvPr/>
        </p:nvSpPr>
        <p:spPr>
          <a:xfrm>
            <a:off x="5760720" y="2057400"/>
            <a:ext cx="1783080" cy="731520"/>
          </a:xfrm>
          <a:prstGeom prst="rect">
            <a:avLst/>
          </a:prstGeom>
          <a:noFill/>
          <a:ln/>
        </p:spPr>
        <p:txBody>
          <a:bodyPr wrap="square" lIns="0" tIns="0" rIns="0" bIns="0" rtlCol="0" anchor="ctr"/>
          <a:lstStyle/>
          <a:p>
            <a:pPr indent="0" marL="0">
              <a:buNone/>
            </a:pPr>
            <a:r>
              <a:rPr lang="en-US" sz="2600" b="1" dirty="0">
                <a:solidFill>
                  <a:schemeClr val="tx2"/>
                </a:solidFill>
              </a:rPr>
              <a:t>Next</a:t>
            </a:r>
            <a:endParaRPr lang="en-US" sz="2600" dirty="0"/>
          </a:p>
        </p:txBody>
      </p:sp>
      <p:sp>
        <p:nvSpPr>
          <p:cNvPr id="15" name="Next list"/>
          <p:cNvSpPr txBox="1"/>
          <p:nvPr/>
        </p:nvSpPr>
        <p:spPr>
          <a:xfrm>
            <a:off x="4617720" y="3108960"/>
            <a:ext cx="2880360" cy="17373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Build real Voice Intake recording (today a placeholder)</a:t>
            </a:r>
            <a:endParaRPr lang="en-US" sz="1600" dirty="0"/>
          </a:p>
          <a:p>
            <a:pPr marL="342900" indent="-342900">
              <a:spcAft>
                <a:spcPts val="1000"/>
              </a:spcAft>
              <a:buSzPct val="100000"/>
              <a:buChar char="•"/>
            </a:pPr>
            <a:r>
              <a:rPr lang="en-US" sz="1600" dirty="0">
                <a:solidFill>
                  <a:schemeClr val="tx1"/>
                </a:solidFill>
              </a:rPr>
              <a:t>Move AI services to a paid tier for daily limits</a:t>
            </a:r>
            <a:endParaRPr lang="en-US" sz="1600" dirty="0"/>
          </a:p>
        </p:txBody>
      </p:sp>
      <p:sp>
        <p:nvSpPr>
          <p:cNvPr id="16" name="Then card"/>
          <p:cNvSpPr/>
          <p:nvPr/>
        </p:nvSpPr>
        <p:spPr>
          <a:xfrm>
            <a:off x="8046720" y="1600200"/>
            <a:ext cx="3520440" cy="3383280"/>
          </a:xfrm>
          <a:prstGeom prst="roundRect">
            <a:avLst>
              <a:gd name="adj" fmla="val 3243"/>
            </a:avLst>
          </a:prstGeom>
          <a:solidFill>
            <a:schemeClr val="bg2"/>
          </a:solidFill>
          <a:ln w="12700">
            <a:solidFill>
              <a:schemeClr val="bg2"/>
            </a:solidFill>
            <a:prstDash val="solid"/>
          </a:ln>
        </p:spPr>
      </p:sp>
      <p:sp>
        <p:nvSpPr>
          <p:cNvPr id="17" name="Then circle"/>
          <p:cNvSpPr/>
          <p:nvPr/>
        </p:nvSpPr>
        <p:spPr>
          <a:xfrm>
            <a:off x="8366760" y="1965960"/>
            <a:ext cx="914400" cy="914400"/>
          </a:xfrm>
          <a:prstGeom prst="ellipse">
            <a:avLst/>
          </a:prstGeom>
          <a:solidFill>
            <a:schemeClr val="accent2"/>
          </a:solidFill>
          <a:ln w="12700">
            <a:solidFill>
              <a:schemeClr val="accent2"/>
            </a:solidFill>
            <a:prstDash val="solid"/>
          </a:ln>
        </p:spPr>
      </p:sp>
      <p:pic>
        <p:nvPicPr>
          <p:cNvPr id="18" name="Then icon" descr="Then">    </p:cNvPr>
          <p:cNvPicPr>
            <a:picLocks noChangeAspect="1"/>
          </p:cNvPicPr>
          <p:nvPr/>
        </p:nvPicPr>
        <p:blipFill>
          <a:blip r:embed="rId3"/>
          <a:stretch>
            <a:fillRect/>
          </a:stretch>
        </p:blipFill>
        <p:spPr>
          <a:xfrm>
            <a:off x="8586216" y="2185416"/>
            <a:ext cx="475488" cy="475488"/>
          </a:xfrm>
          <a:prstGeom prst="rect">
            <a:avLst/>
          </a:prstGeom>
        </p:spPr>
      </p:pic>
      <p:sp>
        <p:nvSpPr>
          <p:cNvPr id="19" name="Then title"/>
          <p:cNvSpPr txBox="1"/>
          <p:nvPr/>
        </p:nvSpPr>
        <p:spPr>
          <a:xfrm>
            <a:off x="9509760" y="2057400"/>
            <a:ext cx="1783080" cy="731520"/>
          </a:xfrm>
          <a:prstGeom prst="rect">
            <a:avLst/>
          </a:prstGeom>
          <a:noFill/>
          <a:ln/>
        </p:spPr>
        <p:txBody>
          <a:bodyPr wrap="square" lIns="0" tIns="0" rIns="0" bIns="0" rtlCol="0" anchor="ctr"/>
          <a:lstStyle/>
          <a:p>
            <a:pPr indent="0" marL="0">
              <a:buNone/>
            </a:pPr>
            <a:r>
              <a:rPr lang="en-US" sz="2600" b="1" dirty="0">
                <a:solidFill>
                  <a:schemeClr val="tx2"/>
                </a:solidFill>
              </a:rPr>
              <a:t>Then</a:t>
            </a:r>
            <a:endParaRPr lang="en-US" sz="2600" dirty="0"/>
          </a:p>
        </p:txBody>
      </p:sp>
      <p:sp>
        <p:nvSpPr>
          <p:cNvPr id="20" name="Then list"/>
          <p:cNvSpPr txBox="1"/>
          <p:nvPr/>
        </p:nvSpPr>
        <p:spPr>
          <a:xfrm>
            <a:off x="8366760" y="3108960"/>
            <a:ext cx="2880360" cy="17373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Field pilot across districts</a:t>
            </a:r>
            <a:endParaRPr lang="en-US" sz="1600" dirty="0"/>
          </a:p>
          <a:p>
            <a:pPr marL="342900" indent="-342900">
              <a:spcAft>
                <a:spcPts val="1000"/>
              </a:spcAft>
              <a:buSzPct val="100000"/>
              <a:buChar char="•"/>
            </a:pPr>
            <a:r>
              <a:rPr lang="en-US" sz="1600" dirty="0">
                <a:solidFill>
                  <a:schemeClr val="tx1"/>
                </a:solidFill>
              </a:rPr>
              <a:t>Officer training with the English and Telugu video guides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371600"/>
          </a:xfrm>
          <a:prstGeom prst="rect">
            <a:avLst/>
          </a:prstGeom>
          <a:noFill/>
          <a:ln/>
        </p:spPr>
        <p:txBody>
          <a:bodyPr wrap="square" rtlCol="0" anchor="b"/>
          <a:lstStyle/>
          <a:p>
            <a:pPr algn="l" indent="0" marL="0">
              <a:buNone/>
            </a:pPr>
            <a:r>
              <a:rPr lang="en-US" sz="6000" b="1" dirty="0">
                <a:solidFill>
                  <a:schemeClr val="bg1"/>
                </a:solidFill>
              </a:rPr>
              <a:t>Thank you</a:t>
            </a:r>
            <a:endParaRPr lang="en-US" sz="6000" dirty="0"/>
          </a:p>
        </p:txBody>
      </p:sp>
      <p:sp>
        <p:nvSpPr>
          <p:cNvPr id="3" name="Text 0"/>
          <p:cNvSpPr/>
          <p:nvPr>
            <p:ph idx="101" type="body" hasCustomPrompt="1"/>
          </p:nvPr>
        </p:nvSpPr>
        <p:spPr>
          <a:xfrm>
            <a:off x="731520" y="3383280"/>
            <a:ext cx="9601200" cy="1188720"/>
          </a:xfrm>
          <a:prstGeom prst="rect">
            <a:avLst/>
          </a:prstGeom>
          <a:noFill/>
          <a:ln/>
        </p:spPr>
        <p:txBody>
          <a:bodyPr wrap="square" rtlCol="0" anchor="t"/>
          <a:lstStyle/>
          <a:p>
            <a:pPr algn="l" indent="0" marL="0">
              <a:buNone/>
            </a:pPr>
            <a:r>
              <a:rPr lang="en-US" sz="2200" dirty="0">
                <a:solidFill>
                  <a:schemeClr val="bg2"/>
                </a:solidFill>
              </a:rPr>
              <a:t>Questions and live demonstration</a:t>
            </a:r>
            <a:endParaRPr lang="en-US" sz="2200" dirty="0"/>
          </a:p>
        </p:txBody>
      </p:sp>
      <p:sp>
        <p:nvSpPr>
          <p:cNvPr id="4" name="closing footer"/>
          <p:cNvSpPr txBox="1"/>
          <p:nvPr/>
        </p:nvSpPr>
        <p:spPr>
          <a:xfrm>
            <a:off x="731520" y="6035040"/>
            <a:ext cx="9144000" cy="365760"/>
          </a:xfrm>
          <a:prstGeom prst="rect">
            <a:avLst/>
          </a:prstGeom>
          <a:noFill/>
          <a:ln/>
        </p:spPr>
        <p:txBody>
          <a:bodyPr wrap="square" lIns="0" tIns="0" rIns="0" bIns="0" rtlCol="0" anchor="t"/>
          <a:lstStyle/>
          <a:p>
            <a:pPr indent="0" marL="0">
              <a:buNone/>
            </a:pPr>
            <a:r>
              <a:rPr lang="en-US" sz="1400" dirty="0">
                <a:solidFill>
                  <a:schemeClr val="bg2"/>
                </a:solidFill>
              </a:rPr>
              <a:t>FIR VisionAI  ·  u-FIR v2.0  ·  Andhra Pradesh Prohibition &amp; Excise Department</a:t>
            </a:r>
            <a:endParaRPr lang="en-US" sz="1400" dirty="0"/>
          </a:p>
        </p:txBody>
      </p:sp>
      <p:sp>
        <p:nvSpPr>
          <p:cNvPr id="5" name="brand circle"/>
          <p:cNvSpPr/>
          <p:nvPr/>
        </p:nvSpPr>
        <p:spPr>
          <a:xfrm>
            <a:off x="9966960" y="731520"/>
            <a:ext cx="1463040" cy="1463040"/>
          </a:xfrm>
          <a:prstGeom prst="ellipse">
            <a:avLst/>
          </a:prstGeom>
          <a:solidFill>
            <a:schemeClr val="accent1"/>
          </a:solidFill>
          <a:ln w="12700">
            <a:solidFill>
              <a:schemeClr val="accent1"/>
            </a:solidFill>
            <a:prstDash val="solid"/>
          </a:ln>
        </p:spPr>
      </p:sp>
      <p:pic>
        <p:nvPicPr>
          <p:cNvPr id="6" name="brand icon" descr="brand">    </p:cNvPr>
          <p:cNvPicPr>
            <a:picLocks noChangeAspect="1"/>
          </p:cNvPicPr>
          <p:nvPr/>
        </p:nvPicPr>
        <p:blipFill>
          <a:blip r:embed="rId1"/>
          <a:stretch>
            <a:fillRect/>
          </a:stretch>
        </p:blipFill>
        <p:spPr>
          <a:xfrm>
            <a:off x="10318090" y="1082650"/>
            <a:ext cx="760781" cy="760781"/>
          </a:xfrm>
          <a:prstGeom prst="rect">
            <a:avLst/>
          </a:prstGeom>
        </p:spPr>
      </p:pic>
    </p:spTree>
  </p:cSld>
  <p:clrMapOvr>
    <a:masterClrMapping/>
  </p:clrMapOvr>
</p:sld>
</file>

<file path=ppt/theme/theme1.xml><?xml version="1.0" encoding="utf-8"?>
<a:theme xmlns:a="http://schemas.openxmlformats.org/drawingml/2006/main" name="FIR VisionAI">
  <a:themeElements>
    <a:clrScheme name="FIR VisionAI">
      <a:dk1>
        <a:srgbClr val="1A2238"/>
      </a:dk1>
      <a:lt1>
        <a:srgbClr val="FFFFFF"/>
      </a:lt1>
      <a:dk2>
        <a:srgbClr val="0B1D4D"/>
      </a:dk2>
      <a:lt2>
        <a:srgbClr val="EEF3F8"/>
      </a:lt2>
      <a:accent1>
        <a:srgbClr val="0F5132"/>
      </a:accent1>
      <a:accent2>
        <a:srgbClr val="C99A2E"/>
      </a:accent2>
      <a:accent3>
        <a:srgbClr val="1F6FB2"/>
      </a:accent3>
      <a:accent4>
        <a:srgbClr val="6B3FA0"/>
      </a:accent4>
      <a:accent5>
        <a:srgbClr val="B23A48"/>
      </a:accent5>
      <a:accent6>
        <a:srgbClr val="5A6478"/>
      </a:accent6>
      <a:hlink>
        <a:srgbClr val="1F6FB2"/>
      </a:hlink>
      <a:folHlink>
        <a:srgbClr val="6B3FA0"/>
      </a:folHlink>
    </a:clrScheme>
    <a:fontScheme name="FIR VisionAI">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AP Prohibition and Excise Department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FIR VisionAI</dc:title>
  <dc:subject>u-FIR v2.0 overview</dc:subject>
  <dc:creator>FIR VisionAI team</dc:creator>
  <cp:lastModifiedBy>FIR VisionAI team</cp:lastModifiedBy>
  <cp:revision>1</cp:revision>
  <dcterms:created xsi:type="dcterms:W3CDTF">2026-10-26T16:11:35Z</dcterms:created>
  <dcterms:modified xsi:type="dcterms:W3CDTF">2026-10-26T16:11:35Z</dcterms:modified>
</cp:coreProperties>
</file>