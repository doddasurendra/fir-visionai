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andhra-pradesh-government-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731520"/>
            <a:ext cx="1554480" cy="1188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011680"/>
            <a:ext cx="10362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D4AF37"/>
                </a:solidFill>
              </a:defRPr>
            </a:pPr>
            <a:r>
              <a:t>ANDHRA PRADESH PROHIBITION &amp; EXCISE DEPARTMENT, GOVERNMENT OF ANDHRA PRADESH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FIR SAHAYAK (u-FIR v2.0)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5760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E2E8F0"/>
                </a:solidFill>
              </a:defRPr>
            </a:pPr>
            <a:r>
              <a:t>AI-Enabled Unified First Information Report (u-FIR) &amp; Case Intelligence Platform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4572000"/>
            <a:ext cx="7619695" cy="1463040"/>
          </a:xfrm>
          <a:prstGeom prst="roundRect">
            <a:avLst/>
          </a:prstGeom>
          <a:solidFill>
            <a:srgbClr val="1A365D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4663440"/>
            <a:ext cx="725393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Complete Technical Architecture, Interface Walkthrough &amp; Project Manager Review</a:t>
            </a:r>
            <a:br/>
            <a:r>
              <a:t>Date: October 2026 | Target: 26 Districts Across Andhra Pradesh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Executive Summary &amp; Project 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D4E"/>
                </a:solidFill>
              </a:defRPr>
            </a:pPr>
            <a:r>
              <a:t>Core Mission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Modernize the Andhra Pradesh Prohibition &amp; Excise Department by replacing fragmented, handwritten FIR documentation with an AI-enabled, legally grounded intelligence platform.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D4E"/>
                </a:solidFill>
              </a:defRPr>
            </a:pPr>
            <a:r>
              <a:t>Target Users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Excise Sub-Inspectors (Station), Superintendents of Excise (District Nodal Admins), and Commissioners/Directors (State Headquarters) across all 26 AP districts.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D4E"/>
                </a:solidFill>
              </a:defRPr>
            </a:pPr>
            <a:r>
              <a:t>Key Innovation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Tri-modal intake (Text, Telugu Voice, Multi-Format Document OCR), 100% grounded RAG with verifiable physical page citations, and Section 27 BNS 2023 statutory matching.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D4E"/>
                </a:solidFill>
              </a:defRPr>
            </a:pPr>
            <a:r>
              <a:t>Operational Status</a:t>
            </a:r>
          </a:p>
          <a:p>
            <a:pPr>
              <a:spcBef>
                <a:spcPts val="800"/>
              </a:spcBef>
              <a:defRPr sz="1050">
                <a:solidFill>
                  <a:srgbClr val="1E293B"/>
                </a:solidFill>
              </a:defRPr>
            </a:pPr>
            <a:r>
              <a:t>Fully verified, locally running PC-first prototype with 29/29 automated tests passing. Dual-adapter ready for immediate Supabase PostgreSQL and private cloud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The Operational Problem in Excise Enforcement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1. Document-Heavy Case Workflows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Excise sub-inspectors spend 3-5 hours manually drafting seizure memos, FIRs, and case diaries for illicit distillation (ID) liquor and ganja seizures, delaying suspect remand.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2. Siloed Paper Records Across Stations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Accused persons arrested in Kurnool often operate vehicles registered in Kadapa and transport contraband from Guntur, but cross-district links remain invisible in station-level diaries.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7764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3. The July 1, 2024 Legal Transition Challenge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Offences committed prior to July 1, 2024 fall under IPC 1860 &amp; CrPC 1973; offences from July 1 onwards must strictly charge under Bharatiya Nyaya Sanhita (BNS 2023) and BNSS. Charging errors lead to court bail or case quashing.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5780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4. Duplicate Suspect &amp; Vehicle Profiles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Variations in Telugu-to-English phonetic transliteration allow repeat offenders to operate under multiple aliases across neighbouring excise jurisdictions.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OBJECTIVES &amp; ROLES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Project Objectives, Scope &amp; User Hierarchy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4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STATION Role</a:t>
            </a:r>
          </a:p>
          <a:p>
            <a:pPr>
              <a:spcBef>
                <a:spcPts val="400"/>
              </a:spcBef>
              <a:defRPr sz="1400" b="1">
                <a:solidFill>
                  <a:srgbClr val="112D4E"/>
                </a:solidFill>
              </a:defRPr>
            </a:pPr>
            <a:r>
              <a:t>Excise Sub-Inspector / Station Inspector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Confined strictly to assigned station (e.g. Kurnool Town). Can create draft cases, upload evidence, review extractions, query document RAG, and generate Case Diaries.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DISTRICT Role</a:t>
            </a:r>
          </a:p>
          <a:p>
            <a:pPr>
              <a:spcBef>
                <a:spcPts val="400"/>
              </a:spcBef>
              <a:defRPr sz="1400" b="1">
                <a:solidFill>
                  <a:srgbClr val="112D4E"/>
                </a:solidFill>
              </a:defRPr>
            </a:pPr>
            <a:r>
              <a:t>Superintendent of Excise / District Nodal Admin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Oversees all stations within assigned district (e.g. Kurnool District). Can approve self-registered officers, review suspect deduplication queues, and view district-wide contraband analytics.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4AF37"/>
                </a:solidFill>
              </a:defRPr>
            </a:pPr>
            <a:r>
              <a:t>STATE Role</a:t>
            </a:r>
          </a:p>
          <a:p>
            <a:pPr>
              <a:spcBef>
                <a:spcPts val="400"/>
              </a:spcBef>
              <a:defRPr sz="1400" b="1">
                <a:solidFill>
                  <a:srgbClr val="112D4E"/>
                </a:solidFill>
              </a:defRPr>
            </a:pPr>
            <a:r>
              <a:t>Commissioner / State Director of Excise</a:t>
            </a:r>
          </a:p>
          <a:p>
            <a:pPr>
              <a:spcBef>
                <a:spcPts val="1200"/>
              </a:spcBef>
              <a:defRPr sz="1000">
                <a:solidFill>
                  <a:srgbClr val="1E293B"/>
                </a:solidFill>
              </a:defRPr>
            </a:pPr>
            <a:r>
              <a:t>Unrestricted statewide visibility across all 26 districts and state headquarters (Amaravati). Analyzes multi-district syndicate networks, provisions officers, and audits the cryptographic hash chain.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CAPABILITY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Inventory &amp; Implementation 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5 of 39  | 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0"/>
                <a:gridCol w="2041855"/>
              </a:tblGrid>
              <a:tr h="47548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Module Name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Implemented Core Functional Scope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Verification Status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2D4E"/>
                          </a:solidFill>
                        </a:defRPr>
                      </a:pPr>
                      <a:r>
                        <a:t>Authentication &amp; 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Login, 26-district self-registration, Argon2id, JWT 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VERIFIED (REAL API)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2D4E"/>
                          </a:solidFill>
                        </a:defRPr>
                      </a:pPr>
                      <a:r>
                        <a:t>Case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Search, status filtering (DRAFT, IN_REVIEW, APPROVED, ARCHIVED)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VERIFIED (REAL API)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2D4E"/>
                          </a:solidFill>
                        </a:defRPr>
                      </a:pPr>
                      <a:r>
                        <a:t>Tri-Modal Case 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Typed narrative, voice audio simulation, multi-format upload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VERIFIED (REAL API)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2D4E"/>
                          </a:solidFill>
                        </a:defRPr>
                      </a:pPr>
                      <a:r>
                        <a:t>Document Ingestion &amp;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Magic bytes (%PDF, JPG, PNG, WEBP), Pillow EXIF, Gemini OCR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VERIFIED (REAL API)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2D4E"/>
                          </a:solidFill>
                        </a:defRPr>
                      </a:pPr>
                      <a:r>
                        <a:t>Grounded RAG Copilot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Mode A (PDF-only + citations), Mode B (Cross-case SQL), Mode C (Image)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VERIFIED (REAL API)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2D4E"/>
                          </a:solidFill>
                        </a:defRPr>
                      </a:pPr>
                      <a:r>
                        <a:t>Section 27 Legal Engine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Date-aware statutory matching (BNS 2023 vs IPC, AP Excise Act)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VERIFIED (REAL API)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2D4E"/>
                          </a:solidFill>
                        </a:defRPr>
                      </a:pPr>
                      <a:r>
                        <a:t>Entity Syndicate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RapidFuzz similarity, NetworkX Louvain community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VERIFIED (REAL API)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2D4E"/>
                          </a:solidFill>
                        </a:defRPr>
                      </a:pPr>
                      <a:r>
                        <a:t>Case Diary &amp; Chargesheet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Jinja2 statutory templates, ReportLab PDF with draft watermark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VERIFIED (REAL API)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2D4E"/>
                          </a:solidFill>
                        </a:defRPr>
                      </a:pPr>
                      <a:r>
                        <a:t>Audit Trail &amp; Cryptography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Section 15 recursive SHA-256 hash chain with on-demand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VERIFIED (REAL API)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FRONTEND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Visible Interface Walkthrough &amp; User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6 of 39  |  Confidential</a:t>
            </a:r>
          </a:p>
        </p:txBody>
      </p:sp>
      <p:pic>
        <p:nvPicPr>
          <p:cNvPr id="8" name="Picture 7" descr="media_1792055645196_aade9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6217920" cy="46634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32320" y="1371600"/>
            <a:ext cx="43278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463040"/>
            <a:ext cx="39620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Annotated UI Controls &amp; Legend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5132"/>
                </a:solidFill>
              </a:rPr>
              <a:t>• 1. AP Government Top Ribbon: </a:t>
            </a:r>
            <a:r>
              <a:rPr sz="850">
                <a:solidFill>
                  <a:srgbClr val="1E293B"/>
                </a:solidFill>
              </a:rPr>
              <a:t>Official #0f5132 green banner with bilingual department headings and live jurisdiction scope badge.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5132"/>
                </a:solidFill>
              </a:rPr>
              <a:t>• 2. Portal Header &amp; Branding: </a:t>
            </a:r>
            <a:r>
              <a:rPr sz="850">
                <a:solidFill>
                  <a:srgbClr val="1E293B"/>
                </a:solidFill>
              </a:rPr>
              <a:t>FIR SAHAYAK title, u-FIR v2.0 pill, official AP emblem logo, and one-click demo role switcher.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5132"/>
                </a:solidFill>
              </a:rPr>
              <a:t>• 3. Horizontal Navigation Bar: </a:t>
            </a:r>
            <a:r>
              <a:rPr sz="850">
                <a:solidFill>
                  <a:srgbClr val="1E293B"/>
                </a:solidFill>
              </a:rPr>
              <a:t>Deep navy (#112d4e) e-Pragati style grouped menus (Home, Case Mgmt, AI &amp; Legal, Investigation, Admin).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5132"/>
                </a:solidFill>
              </a:rPr>
              <a:t>• 4. Tri-Modal Intake Tabs: </a:t>
            </a:r>
            <a:r>
              <a:rPr sz="850">
                <a:solidFill>
                  <a:srgbClr val="1E293B"/>
                </a:solidFill>
              </a:rPr>
              <a:t>Tab switches between Typed Narrative, Voice Intake (TE/EN/HI), and Evidence Upload / OCR.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5132"/>
                </a:solidFill>
              </a:rPr>
              <a:t>• 5. Evidence Upload Zone: </a:t>
            </a:r>
            <a:r>
              <a:rPr sz="850">
                <a:solidFill>
                  <a:srgbClr val="1E293B"/>
                </a:solidFill>
              </a:rPr>
              <a:t>Dashed upload target accepting PDF, JPG, JPEG, PNG, WEBP with client-side preview and size checks.</a:t>
            </a:r>
          </a:p>
          <a:p>
            <a:pPr>
              <a:spcBef>
                <a:spcPts val="600"/>
              </a:spcBef>
            </a:pPr>
            <a:r>
              <a:rPr b="1" sz="900">
                <a:solidFill>
                  <a:srgbClr val="0F5132"/>
                </a:solidFill>
              </a:rPr>
              <a:t>• 6. Officer Review Form: </a:t>
            </a:r>
            <a:r>
              <a:rPr sz="850">
                <a:solidFill>
                  <a:srgbClr val="1E293B"/>
                </a:solidFill>
              </a:rPr>
              <a:t>12 structured case fields requiring mandatory officer verification and electronic sign-off.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CONTROL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Control-by-Control Operational Breakdown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7 of 39  | 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3474720"/>
                <a:gridCol w="1371600"/>
                <a:gridCol w="1858975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Visible Control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HTML Element / Form Tag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Functional Meaning &amp; Action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Authorized User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Backend Endpoint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Language Selector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EN / తెలుగు / हिन्दी buttons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Switches active locale via LanguageContext; updates UI labels and passes language code to backend AI prompts.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All Officers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GET /api/v1/generation/...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Demo Role Switcher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DEV / STATION / DISTRICT / STATE pills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One-click switching between authorized development accounts to test role-based jurisdiction scoping live.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Evaluators /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POST /api/v1/auth/login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File Upload Picker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accept='.pdf,.jpg,.jpeg,.png,.webp'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Selects physical FIR document or mobile photo. Validates MIME type and renders instant image preview.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Station Officers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POST /api/v1/documents/upload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Save Draft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Blue primary action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Submits verified case form to backend, creates case in 'IN_REVIEW' state, resolves entities, and redirects to dossier.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Station Officers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POST /api/v1/cases/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Verify Chain Button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Audit Trail green action pill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Triggers backend recalculation of all SHA-256 recursive hash links from genesis block; reports tampering.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Auditors / Admins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GET /api/v1/audit/verify-integrity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HOME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Navigation Group 1: Home Dropdown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8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Dashboard (`/`)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Operational command center displaying scoped seizure KPIs, active review cases, pending entity deduplications, and audit chain integrity.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Reports &amp; Analytics (`/reports`)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Explainable repeat-offender recidivism scoring (HIGH, MEDIUM, LOW) based on multi-district activity and contraband volume.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Settings &amp; Health (`/settings`)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Real-time diagnostic console checking FastAPI backend, SQLite+FTS5 database, and Gemini LLM provider connectivity.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CASE MANAGEMENT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Navigation Group 2: Case Management Dropdown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9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Case Management (`/cases`)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Searchable repository of u-FIR records filtered by jurisdiction, status (DRAFT, IN_REVIEW, APPROVED, ARCHIVED), and contraband terms.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New Case Intake (`/intake`)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Tri-modal intake pipeline (Narrative text extraction, Voice audio transcription, and PDF/Image document OCR) with draft review form.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Bulk Document Ingestion (`/bulk-ingestion`)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Batch import tool for historical FIR datasets in CSV or JSON format with background progress polling and SHA-256 file hashing.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AI &amp; LEGAL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Navigation Group 3: AI &amp; Legal Intelligence Dropdown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10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AI FIR Assistance (`/ai-fir-assistance`)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Grounded investigative copilot. Mode A enforces strict PDF-only RAG with physical page citations; Mode B provides cross-case SQL intelligence.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06324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AI Case Summaries (`/summaries`)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Generates grounded 3-to-5 sentence executive case briefs in English, Telugu, or Hindi, cached in PostgreSQL/SQLite.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617720"/>
            <a:ext cx="102714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Legal Section Assistance (`/legal`)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Section 27 Date-Aware Statutory Engine. Classifies offences under BNS 2023 vs IPC 1860 and matches AP Excise Act 1968 provisions.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INVESTIGATION TOOLS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Navigation Group 4: Investigation Tools Dropdown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11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0271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Entity Network (`/network`)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Interactive vis-network canvas mapping criminal syndicates, co-accused links, and shared vehicles using Louvain community clustering.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0604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743200"/>
            <a:ext cx="10271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Entity Review Queue (`/entity-review`)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Duplicate suspect deduplication queue comparing candidate pairs flagged by RapidFuzz string distance (similarity 70%-98%).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77640"/>
            <a:ext cx="10271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Case Diary Generator (`/case-diary`)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Generates Investigation Case Diaries adhering to Section 172 CrPC/BNSS with multi-version editing and ReportLab watermarked PDF export.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728655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12080"/>
            <a:ext cx="102714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Chargesheet Generator (`/chargesheet`)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Compiles formal court Chargesheets conforming to Section 173 CrPC/193 BNSS with witness statements and approved charges.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ADMINISTRATION NAVIGATION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Navigation Group 5: Administration Dropdown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12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83080"/>
            <a:ext cx="102714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Employee Management (`/employees`)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Officer governance directory restricted to DISTRICT and STATE roles. Review pending registrations, provision accounts, and reset passwords.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23360"/>
            <a:ext cx="10728655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60520"/>
            <a:ext cx="10271455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Audit Trail (`/audit-trail`)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Section 15 Tamper-Evident SHA-256 Recursive Cryptographic Hash Chain. Displays sequential log blocks and on-demand chain verification.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DASHBOARD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Dashboard Command Center Component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13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5132"/>
                </a:solidFill>
              </a:defRPr>
            </a:pPr>
            <a:r>
              <a:t>Green AP Ribbon &amp; Logo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Official AP emblem and bilingual heading displaying active operational jurisdiction (e.g. 'Kurnool Town Station').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5132"/>
                </a:solidFill>
              </a:defRPr>
            </a:pPr>
            <a:r>
              <a:t>Jurisdiction Scope Badge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Visual tag confirming active authorization level: STATION, DISTRICT, or STATE headquarters.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5132"/>
                </a:solidFill>
              </a:defRPr>
            </a:pPr>
            <a:r>
              <a:t>Quick Action Buttons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One-click direct shortcuts to '+ New Case Intake' and 'AI FIR Assistance Copilot'.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5132"/>
                </a:solidFill>
              </a:defRPr>
            </a:pPr>
            <a:r>
              <a:t>4 Core KPI Cards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Live counts for Total Scoped Cases, Under Review (IN_REVIEW), Approved FIRs, and Pending Drafts.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5132"/>
                </a:solidFill>
              </a:defRPr>
            </a:pPr>
            <a:r>
              <a:t>Seizure Statistics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Volume breakdown by contraband type (ID Liquor in Litres, Ganja in Kg, Vehicles seized).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F5132"/>
                </a:solidFill>
              </a:defRPr>
            </a:pPr>
            <a:r>
              <a:t>Action Alert Banners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Pending field verification notices, unresolved duplicate entity counts, and cryptographic chain status.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METRIC DATA PROVENANCE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Metric Origin &amp; Live Database Verification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14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Data Source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Every KPI card on the dashboard is powered by live SQL aggregations from GET /api/v1/analytics/dashboard. It executes count() and sum() queries over the persistent cases 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Server-Side Scoping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A Station officer sees metrics strictly for their station; a District admin sees district-wide totals; State directors see statewide totals. Scoping is enforced server-side.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Audit Chain Badge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Displays live integrity status of the recursive SHA-256 hash chain, indicating whether all historical blocks remain cryptographically intact.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Statutory Footer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Lists legal regimes enforced by the platform: AP Excise Act 1968, NDPS Act 1985, BNS 2023, BNSS 2023, and CrPC/IPC transitional rules.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WORKFLOWS: INTAKE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Intake &amp; Verification Workflows (Workflows 1-5)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15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1: Login &amp; Scoping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Officer logs in -&gt; Argon2id verifies password -&gt; JWT access/refresh tokens issued -&gt; Scope filters injected into session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04288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95728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2: New Case Creation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Officer enters seizure facts -&gt; Gemini extracts draft fields -&gt; Officer reviews and edits form -&gt; Case saved as 'IN_REVIEW'.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36976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28416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3: PDF Document Upload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Officer uploads PDF -&gt; Magic bytes verified (%PDF) -&gt; Saved to data/evidence/ -&gt; 400-char chunks indexed into SQLite FTS5.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9664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61104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4: Image / Photo Upload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Officer uploads JPG/PNG/WEBP photo -&gt; Magic bytes verified -&gt; Pillow fixes EXIF -&gt; Gemini vision transcribes Telugu/English text -&gt; Indexed as Page 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02352"/>
            <a:ext cx="10728655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93792"/>
            <a:ext cx="1036289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5: Human Override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Officer inspects extracted fields in dossier -&gt; Modifies seized quantity -&gt; Status updated to OVERRIDDEN -&gt; Audit log event appended.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WORKFLOWS: RAG &amp; LEGAL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Grounded RAG &amp; Legal Workflows (Workflows 6-8)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16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6: Grounded RAG Query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Officer selects FIR in Mode A -&gt; Types question -&gt; FTS5 retrieves chunks strictly from that document -&gt; Gemini answers with clickable [Page X] citation.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7: Negative Inquiry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Officer asks unrecorded fact (e.g. prior convictions) -&gt; System detects absence -&gt; Strictly outputs certified negative phrase in EN, TE, or HI.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8: Legal Section Matching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Officer triggers legal assistance -&gt; System checks offence date vs July 1 2024 -&gt; Matches BNS vs IPC -&gt; Flags missing lab report -&gt; Officer logs review decision.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WORKFLOWS: INVESTIGATION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Investigation &amp; Court Drafting Workflows (Workflows 9-11)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17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9: Entity Deduplication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System runs RapidFuzz on accused profiles -&gt; Pairs with 70%-98% similarity queued -&gt; Admin confirms merge -&gt; Foreign keys redirected.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10: Case Diary Drafting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Officer opens Case Diary generator -&gt; Jinja2 populates Section 172 CrPC/BNSS template -&gt; Officer edits draft -&gt; Version counter incremented.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Workflow 11: Document Export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Supervisory officer approves draft -&gt; System invokes ReportLab -&gt; Official PDF compiled with AP department header and draft watermark.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WORKFLOWS: AUDIT TRAIL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Governance &amp; Cryptographic Audit (Workflow 12)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18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Audit Logging Event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Every state change executes log_audit_event() -&gt; Serializes canonical payload -&gt; Computes sha256(prev_hash + payload) -&gt; Appends row.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2608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On-Demand Chain Check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Admin clicks 'Verify Cryptographic Hash Chain' -&gt; Backend recalculates hashes sequentially from Genesis block (64 zeros) -&gt; Confirms 100% chain integrity.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80560"/>
            <a:ext cx="10728655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103628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Tamper Detection</a:t>
            </a:r>
          </a:p>
          <a:p>
            <a:pPr>
              <a:spcBef>
                <a:spcPts val="200"/>
              </a:spcBef>
              <a:defRPr sz="950">
                <a:solidFill>
                  <a:srgbClr val="1E293B"/>
                </a:solidFill>
              </a:defRPr>
            </a:pPr>
            <a:r>
              <a:t>If any database record is altered directly in SQL, the hash link breaks -&gt; verify_audit_chain() halts and identifies the exact corrupted block ID.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CLIENT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Frontend Technical Stack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19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Core Framework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React 18.2.0 (Single Page Application) with TypeScript 5.2.2 and Vite 5.1.6 build engine.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Styling System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Tailwind CSS 3.4.1 with PostCSS, Autoprefixer, and custom AP Government color extensions (govblue, govemerald).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Routing Architecture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React Router DOM 6.22.3 with global AuthContext route guard redirecting unauthenticated users to Login.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API Interceptor Pipeline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Axios client in src/api/client.ts with automated Bearer token injection and concurrency-safe HTTP 401 refresh queuing.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Multi-Language Support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LanguageContext managing English, Telugu, and Hindi with localized translation dictionaries in src/i18n/translations.ts.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Graph Canvas Rendering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vis-network 9.1.9 for physics-simulated interactive criminal syndicate network diagrams.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COMPONENT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Component-to-API Mapping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20 of 39  | 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377440"/>
                <a:gridCol w="3200400"/>
                <a:gridCol w="3139135"/>
              </a:tblGrid>
              <a:tr h="52832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React Component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Source File Path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Backend API Route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Functional Interaction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src/pages/Dashboard.tsx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GET /api/v1/analytics/dashboard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Role-scoped seizure KPIs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CaseManagement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src/pages/CaseManagement.tsx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GET /api/v1/cases/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Searchable repository query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CaseDetail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src/pages/CaseDetail.tsx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GET /api/v1/cases/{id}, POST /override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Case dossier &amp; human overrides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NewCaseIntake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src/pages/NewCaseIntake.tsx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POST /extraction/*, POST /cases/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Tri-modal intake &amp; creation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AIFIRAssistance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src/pages/AIFIRAssistance.tsx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POST /api/v1/rag/query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Grounded RAG with page citations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LegalSectionAssistance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src/pages/LegalSectionAssistance.tsx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GET /legal/recommend/{id}, POST /decision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Section 27 statutory evaluation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EntityNetwork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src/pages/EntityNetwork.tsx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GET /api/v1/entities/network-graph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NetworkX Louvain graph query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AuditTrail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src/pages/AuditTrail.tsx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GET /audit/, GET /audit/verify-integrity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Cryptographic chain check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SERVER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Backend Framework &amp; Layered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21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132"/>
                </a:solidFill>
              </a:defRPr>
            </a:pPr>
            <a:r>
              <a:t>Layer 1: API Gateway Layer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FastAPI 0.110.0 running on Uvicorn ASGI server and Python 3.12. Mounts 13 modular routers under /api/v1.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132"/>
                </a:solidFill>
              </a:defRPr>
            </a:pPr>
            <a:r>
              <a:t>Layer 2: Schema Validation Layer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Pydantic v2 schemas strictly validating incoming payloads, preventing malformed data from reaching logic.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132"/>
                </a:solidFill>
              </a:defRPr>
            </a:pPr>
            <a:r>
              <a:t>Layer 3: Security &amp; RBAC Middleware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Argon2id password hashing, PyJWT token issuance, and server-side jurisdiction scoping dependencies.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132"/>
                </a:solidFill>
              </a:defRPr>
            </a:pPr>
            <a:r>
              <a:t>Layer 4: Service &amp; Logic Tier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12 business services: auth, pdf_pipeline, rag_engine, legal_service, entity_resolution, document_generator, audit, storage, etc.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5132"/>
                </a:solidFill>
              </a:defRPr>
            </a:pPr>
            <a:r>
              <a:t>Layer 5: ORM &amp; Persistence Tier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SQLAlchemy 2.0.28 with asynchronous session factories (aiosqlite) and dual-adapter cloud database support.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REQUEST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Complete API Request Lifecycle Walkthrough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22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6191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353312"/>
            <a:ext cx="10362895" cy="47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1. Client Request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React dispatches HTTP request with Authorization: Bearer &lt;token&gt; header to /api/v1/cases.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972491"/>
            <a:ext cx="10728655" cy="6191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45643"/>
            <a:ext cx="10362895" cy="47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2. CORS &amp; Routing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CORSMiddleware validates origin. FastAPI routes request to cases_router.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64822"/>
            <a:ext cx="10728655" cy="6191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737974"/>
            <a:ext cx="10362895" cy="47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3. Authentication Dependency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get_current_user dependency validates JWT signature, expiry, and active status in database.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57153"/>
            <a:ext cx="10728655" cy="6191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430305"/>
            <a:ext cx="10362895" cy="47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4. Data Scoping Enforcement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apply_case_scope_filter() injects WHERE clauses restricting Station/District queries server-side.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49484"/>
            <a:ext cx="10728655" cy="6191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22636"/>
            <a:ext cx="10362895" cy="47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5. Service &amp; Database Write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CaseService performs duplicate check, inserts Case record, and commits transaction.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741815"/>
            <a:ext cx="10728655" cy="6191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814967"/>
            <a:ext cx="10362895" cy="47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6. Tamper-Evident Audit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log_audit_event() computes SHA-256 hash linked to previous block and inserts AuditLog row.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434146"/>
            <a:ext cx="10728655" cy="6191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507298"/>
            <a:ext cx="10362895" cy="472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7. Formatted Response</a:t>
            </a:r>
          </a:p>
          <a:p>
            <a:pPr>
              <a:spcBef>
                <a:spcPts val="200"/>
              </a:spcBef>
              <a:defRPr sz="850">
                <a:solidFill>
                  <a:srgbClr val="1E293B"/>
                </a:solidFill>
              </a:defRPr>
            </a:pPr>
            <a:r>
              <a:t>Pydantic CaseResponse schema serializes output into clean JSON returned with HTTP 201.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DATABASE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Dual-Mode Database Architecture &amp;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23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Local Mode (Active Default)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Runs on local file-backed SQLite 3 (data/fir_sahayak.db) via aiosqlite. Features SQLite FTS5 full-text virtual tables (document_chunks_fts, cases_fts). Operates 100% offline with zero external dependencies.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Cloud Mode (Configured &amp; Ready)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When SUPABASE_DATABASE_URL is provided in .env, database.py connects to Supabase PostgreSQL using asyncpg with connection pooling (pool_size=10, max_overflow=20, pool_pre_ping=True).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FTS5 Full-Text Search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Virtual tables document_chunks_fts, cases_fts, and legal_corpus_fts use porter stemming and unicode61 multi-language tokenizer for sub-millisecond keyword retrieval.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Persistence Across Restarts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All tables are file-backed on disk with WAL mode enabled. Backend restarts preserve all cases, documents, entities, and audit records with zero data loss.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Entity-Relationship Model &amp; Table Inventory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24 of 39  | 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943600"/>
                <a:gridCol w="2041855"/>
              </a:tblGrid>
              <a:tr h="52832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Database Model / Tables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Functional Schema Content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Primary Key &amp; Constraints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users &amp; refresh_tokens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User credentials, Argon2 hashes, roles (STATION/DISTRICT/STATE), rotating JWT tokens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5132"/>
                          </a:solidFill>
                        </a:defRPr>
                      </a:pPr>
                      <a:r>
                        <a:t>UUID PK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cases &amp; case_fields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FIR metadata, contraband, seized volume, vehicles, field provenance, human overrides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5132"/>
                          </a:solidFill>
                        </a:defRPr>
                      </a:pPr>
                      <a:r>
                        <a:t>UUID PK, FK cases.id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documents &amp; document_pages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Ingested evidence metadata, stored paths, SHA-256 hashes, physical page numbers, OCR 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5132"/>
                          </a:solidFill>
                        </a:defRPr>
                      </a:pPr>
                      <a:r>
                        <a:t>UUID PK, FK cases.id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document_chunks &amp; FTS5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400-char text slices with 80-char overlaps, character offsets, FTS5 full-text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5132"/>
                          </a:solidFill>
                        </a:defRPr>
                      </a:pPr>
                      <a:r>
                        <a:t>UUID PK, FK documents.id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entities, mentions, edges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Canonical suspect individuals, vehicles, co-accused links, Louvain community clusters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5132"/>
                          </a:solidFill>
                        </a:defRPr>
                      </a:pPr>
                      <a:r>
                        <a:t>UUID PK, FK entities.id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legal_corpus &amp; case_sections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Statutory provisions from AP Excise Act 1968 &amp; BNS 2023, officer charging decisions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5132"/>
                          </a:solidFill>
                        </a:defRPr>
                      </a:pPr>
                      <a:r>
                        <a:t>UUID PK, FK cases.id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audit_log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Section 15 recursive SHA-256 tamper-evident cryptographic hash chain of all events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5132"/>
                          </a:solidFill>
                        </a:defRPr>
                      </a:pPr>
                      <a:r>
                        <a:t>Integer PK, Genesis: 64 0s</a:t>
                      </a:r>
                    </a:p>
                  </a:txBody>
                  <a:tcPr/>
                </a:tc>
              </a:tr>
              <a:tr h="52832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generated_documents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1E293B"/>
                          </a:solidFill>
                        </a:defRPr>
                      </a:pPr>
                      <a:r>
                        <a:t>Section 172 Case Diaries and Section 173 Chargesheets with draft version 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0F5132"/>
                          </a:solidFill>
                        </a:defRPr>
                      </a:pPr>
                      <a:r>
                        <a:t>UUID PK, FK cases.id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STORAGE ADAPTER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Evidence Storage &amp; Supabase Cloud Readiness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25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Storage Reality Check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SUPABASE_URL and SUPABASE_KEY are currently commented out in .env. StorageService operates in local fallback mode, saving evidence files to data/evidence/.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Local File Protection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Evidence files are named using their SHA-256 hash prefix: {file_hash[:12]}_{filename}. Direct static HTTP serving is disabled; downloads require authenticated JWT with role scoping.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Cloud Storage Adapter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When Supabase credentials are provided, StorageService automatically uploads files to the private 'evidence' bucket via HTTP REST with Bearer service-role tokens.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12D4E"/>
                </a:solidFill>
              </a:defRPr>
            </a:pPr>
            <a:r>
              <a:t>Signed URL Security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In cloud mode, StorageService.create_signed_url() generates time-limited download URLs expiring after 3600 seconds (60 minutes), preventing unauthorized exposure.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INGESTION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Multi-Format Ingestion Pipeline &amp; Previous Bug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26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1. Magic-Byte Content Detection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Replaced rigid extension checking with byte-level header inspection (%PDF for PDF, \xff\xd8\xff for JPEG, \x89PNG for PNG, RIFF for WEBP). Disguised executables are rejected with HTTP 400.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2. Root Cause of Previous Error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The error 'Only PDF documents are supported' was caused by hardcoded .endswith('.pdf') checks in documents.py and accept='.pdf' in React file inputs, blocking valid photos.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7764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3. Multimodal OCR Execution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PDFPipeline.process_image() uses Pillow EXIF correction and Gemini 2.0 Flash multimodal vision to transcribe handwritten/printed Telugu and English text into structured pages.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5780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4. Provenance &amp; Chunking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Extracted image text is indexed as Physical Page 1 in document_pages and document_chunks_fts, enabling instant grounded RAG queries without fake page numbers.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AI Models, Prompts &amp; Provider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27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Core Foundation Model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Google Gemini 2.0 Flash (gemini-2.0-flash) via official google-genai 0.1.1 SDK.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0876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Vector Embedding Model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text-embedding-004 configured in backend settings for dense semantic retrieval.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260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Structured Case Extraction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Prompts enforce strict Pydantic JSON schemas to parse FIR numbers, contraband, and vehicles. Fallback: local regex parser.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2608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306324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Multimodal Vision OCR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Transcribes printed and handwritten seizure memos in Telugu, English, and Hindi from mobile photos.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Executive Summarization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Generates concise 3-to-5 sentence briefs in English, Telugu, or Hindi, cached in PostgreSQL/SQLite.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480560"/>
            <a:ext cx="521208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4617720"/>
            <a:ext cx="4846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112D4E"/>
                </a:solidFill>
              </a:defRPr>
            </a:pPr>
            <a:r>
              <a:t>Offline Fallbacks</a:t>
            </a:r>
          </a:p>
          <a:p>
            <a:pPr>
              <a:spcBef>
                <a:spcPts val="400"/>
              </a:spcBef>
              <a:defRPr sz="900">
                <a:solidFill>
                  <a:srgbClr val="1E293B"/>
                </a:solidFill>
              </a:defRPr>
            </a:pPr>
            <a:r>
              <a:t>Deterministic local rule-based regex extraction ensures officers can proceed even when cloud AI is unreachable.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GROUNDED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Strict Grounded RAG &amp; Three Operating Modes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28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132"/>
                </a:solidFill>
              </a:defRPr>
            </a:pPr>
            <a:r>
              <a:t>Mode A: Uploaded PDF Only</a:t>
            </a:r>
          </a:p>
          <a:p>
            <a:pPr>
              <a:spcBef>
                <a:spcPts val="1000"/>
              </a:spcBef>
              <a:defRPr sz="950">
                <a:solidFill>
                  <a:srgbClr val="1E293B"/>
                </a:solidFill>
              </a:defRPr>
            </a:pPr>
            <a:r>
              <a:t>Section 26 Strict Compliance. Restricts FTS5 retrieval strictly to document_id = selected_doc. Mandates clickable [PDF Page X] citations. Negative questions return certified missing phrases (English, Telugu, Hindi). Cross-case leakage is physically impossible.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132"/>
                </a:solidFill>
              </a:defRPr>
            </a:pPr>
            <a:r>
              <a:t>Mode B: Cross-Case Intelligence</a:t>
            </a:r>
          </a:p>
          <a:p>
            <a:pPr>
              <a:spcBef>
                <a:spcPts val="1000"/>
              </a:spcBef>
              <a:defRPr sz="950">
                <a:solidFill>
                  <a:srgbClr val="1E293B"/>
                </a:solidFill>
              </a:defRPr>
            </a:pPr>
            <a:r>
              <a:t>Evaluates aggregate questions (e.g. 'how many cases', 'total contraband') by generating parameterized SQL queries (func.count). Scoped strictly to the officer's jurisdiction.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132"/>
                </a:solidFill>
              </a:defRPr>
            </a:pPr>
            <a:r>
              <a:t>Mode C: Uploaded Image Only</a:t>
            </a:r>
          </a:p>
          <a:p>
            <a:pPr>
              <a:spcBef>
                <a:spcPts val="1000"/>
              </a:spcBef>
              <a:defRPr sz="950">
                <a:solidFill>
                  <a:srgbClr val="1E293B"/>
                </a:solidFill>
              </a:defRPr>
            </a:pPr>
            <a:r>
              <a:t>Operates on single-page photographs and scans. Grounds answers in OCR text chunks and cites the image filename/ID without hallucinating multi-page numbers.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SECURITY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Authentication, RBAC &amp; Jurisdiction Scoping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29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Security Pillar 1: Argon2id Password Hashing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Memory-hard hashing (time_cost=3, memory=64MB, parallelism=4) resistant to GPU/ASIC brute-force cracking.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Security Pillar 2: JWT Token Rotation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HS256 access tokens (120m expiry) and rotating refresh tokens (7d expiry) with unique 16-byte nonces (jti) tracked in refresh_tokens 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Security Pillar 3: Hierarchical Data Scoping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enforce_data_scope() and apply_case_scope_filter() inject WHERE clauses server-side. Station officers cannot query other stations.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48056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Security Pillar 4: Self-Registration Governance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STATION role auto-approved; DISTRICT and STATE roles require formal administrator review and approval before login is permitted.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48640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Security Pillar 5: CORS &amp; CSRF Prevention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Whitelisted Vite development origins; Bearer token header authentication eliminates cookie-based CSRF vulnerabilities.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CRYPTOGRAPHIC AUDIT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Section 15 Cryptographic Audit Hash Chain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30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1. Recursive SHA-256 Hashing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Every write, override, login, or document generation logs to audit_log with Entry Hash = SHA256(Previous Hash + Canonical Event Payload).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2. Genesis Block Anchor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The audit log starts with an immutable Genesis Block anchored by 64 zeros (0000...0000).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7764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3. On-Demand Integrity Verification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GET /api/v1/audit/verify-integrity recalculates all hashes sequentially. If any database record is altered directly in SQL, subsequent hash links break.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5780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5132"/>
                </a:solidFill>
              </a:defRPr>
            </a:pPr>
            <a:r>
              <a:t>4. Forensic Accountability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Preserves immutable actor username, action type, object UUID, before/after JSON states, and client IP addresses for judicial inspection.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Automated Quality Assurance &amp; Verification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31 of 39  | 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5943600"/>
                <a:gridCol w="1858975"/>
              </a:tblGrid>
              <a:tr h="7924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Test Suite / Scope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Automated Functional Verifications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Execution Result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test_backend.py (10 Tests)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Health check, Station scoping, State visibility, Field override persistence, Mode A RAG citations, English/Telugu missing phrases, BNS legal recommendation, Audit hash integrity, Network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10 / 10 PASSED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test_auth_jurisdiction_admin.py (6 Tests)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AP jurisdiction master data, Station self-registration, Privileged approval requirement, Duplicate prevention, Admin password reset, Token refresh rotation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6 / 6 PASSED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test_image_upload.py (8 Tests)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JPEG upload accepted, PNG upload accepted, WEBP upload accepted, PDF regression check, .exe rejection, .txt rejection, MIME mismatch handling, Image-only RAG citations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8 / 8 PASSED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test_supabase_adapter.py (5 Tests)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StorageService diagnostics, SHA-256 computation, Local fallback upload/read, Database status diagnostics, Supabase SQL schema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5 / 5 PASSED</a:t>
                      </a:r>
                    </a:p>
                  </a:txBody>
                  <a:tcPr/>
                </a:tc>
              </a:tr>
              <a:tr h="79248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Frontend Production 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tsc &amp;&amp; vite build compiles clean with zero TypeScript errors. 1,570 modules transformed in ~10 seconds.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BUILD PASSED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PM EVALUATION: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Project Manager's Technical &amp; Delivery Review (Part 1)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32 of 39  | 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5486400"/>
                <a:gridCol w="1493215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Evaluation Area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Audit Rating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Implementation Assessment &amp; Real Findings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Priority Level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1. Business Value &amp;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Replaces hours of manual FIR typing with 1-click multi-modal drafting; directly mitigates BNS legal errors.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2. Functional Completeness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All 16 planned modules implemented with real API integrations; zero static disconnected mockups.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3. Architecture &amp; Modularity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Decoupled React SPA + FastAPI backend; clean service-layer separation; dual-adapter storage.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4. Database &amp;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SQLite+FTS5 verified; persistent on disk; Supabase schema ready; foreign-key cascades enforced.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5. AI Accuracy &amp; Grounding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Section 26 PDF-only RAG eliminates hallucinations with physical page citations and mandatory phrases.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6. Legal Correctness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Date-aware BNS 2023 vs IPC transition rule accurately maps July 1, 2024 cutoff; requires officer review.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7. Security &amp; Access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Argon2id, rotating JWTs, server-side data scoping, and recursive SHA-256 hash chaining active.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CRITICAL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PM EVALUATION: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Project Manager's Technical &amp; Delivery Review (Part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33 of 39  |  Confidential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28016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5486400"/>
                <a:gridCol w="1493215"/>
              </a:tblGrid>
              <a:tr h="594360"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Evaluation Area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Audit Rating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Implementation Assessment &amp; Real Findings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50">
                          <a:solidFill>
                            <a:srgbClr val="FFFFFF"/>
                          </a:solidFill>
                        </a:defRPr>
                      </a:pPr>
                      <a:r>
                        <a:t>Priority Level</a:t>
                      </a:r>
                    </a:p>
                  </a:txBody>
                  <a:tcPr>
                    <a:solidFill>
                      <a:srgbClr val="112D4E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8. Reliability &amp; Performance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MEDIUM-HIGH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Sub-second API responses; FTS5 sub-millisecond retrieval; needs load testing for 100+ concurrent users.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9. Testing Quality &amp; Evidence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29 / 29 automated tests passing with zero failures; unit tests cover auth, scoping, RAG, and image uploads.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10. Deployment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Verified for local demonstration; requires APSDC cloud VM, Nginx, and SSL before live production.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11. Team Ownership &amp; Code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Consistent PEP 8 Python and clean TypeScript; zero hardcoded secrets in source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12. Operational Sustainability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Runs offline at zero cost; cloud pilot estimated under $100/mo (Supabase Pro + Gemini Flash API).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13. Risk Mitigation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Deterministic local fallbacks for AI/OCR; soft deletion prevents data loss; immutable audit trail.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12D4E"/>
                          </a:solidFill>
                        </a:defRPr>
                      </a:pPr>
                      <a:r>
                        <a:t>14. Acceptance 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0F513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E293B"/>
                          </a:solidFill>
                        </a:defRPr>
                      </a:pPr>
                      <a:r>
                        <a:t>All core master prompt and UI redesign criteria met; ready for departmental evaluation.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D4AF37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GO-LIVE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Go-Live Readiness Assessment Matrix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34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6002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D4E"/>
                </a:solidFill>
              </a:defRPr>
            </a:pPr>
            <a:r>
              <a:t>DEMO-READY</a:t>
            </a:r>
          </a:p>
          <a:p>
            <a:pPr>
              <a:spcBef>
                <a:spcPts val="400"/>
              </a:spcBef>
              <a:defRPr sz="1000" b="1">
                <a:solidFill>
                  <a:srgbClr val="0F5132"/>
                </a:solidFill>
              </a:defRPr>
            </a:pPr>
            <a:r>
              <a:t>CURRENT STATUS: 100% VERIFIED</a:t>
            </a:r>
          </a:p>
          <a:p>
            <a:pPr>
              <a:spcBef>
                <a:spcPts val="1200"/>
              </a:spcBef>
              <a:defRPr sz="950">
                <a:solidFill>
                  <a:srgbClr val="1E293B"/>
                </a:solidFill>
              </a:defRPr>
            </a:pPr>
            <a:r>
              <a:t>Working local prototype on ports 5173 &amp; 8000. All 16 modules, multi-format upload, grounded RAG, legal assistance, syndicate graphs, and 29/29 tests operational.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6002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D4E"/>
                </a:solidFill>
              </a:defRPr>
            </a:pPr>
            <a:r>
              <a:t>PILOT-READY</a:t>
            </a:r>
          </a:p>
          <a:p>
            <a:pPr>
              <a:spcBef>
                <a:spcPts val="400"/>
              </a:spcBef>
              <a:defRPr sz="1000" b="1">
                <a:solidFill>
                  <a:srgbClr val="D4AF37"/>
                </a:solidFill>
              </a:defRPr>
            </a:pPr>
            <a:r>
              <a:t>REQUIRED GATES (1-2 WEEKS)</a:t>
            </a:r>
          </a:p>
          <a:p>
            <a:pPr>
              <a:spcBef>
                <a:spcPts val="1200"/>
              </a:spcBef>
              <a:defRPr sz="950">
                <a:solidFill>
                  <a:srgbClr val="1E293B"/>
                </a:solidFill>
              </a:defRPr>
            </a:pPr>
            <a:r>
              <a:t>1. Populate SUPABASE_DATABASE_URL to activate PostgreSQL connection pool. 2. Configure Supabase Storage credentials. 3. Integrate live Bhashini Telugu ASR for voice intake. 4. Deploy containerized Docker Compose stack.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600200"/>
            <a:ext cx="2926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12D4E"/>
                </a:solidFill>
              </a:defRPr>
            </a:pPr>
            <a:r>
              <a:t>PRODUCTION-READY</a:t>
            </a:r>
          </a:p>
          <a:p>
            <a:pPr>
              <a:spcBef>
                <a:spcPts val="400"/>
              </a:spcBef>
              <a:defRPr sz="1000" b="1">
                <a:solidFill>
                  <a:srgbClr val="D4AF37"/>
                </a:solidFill>
              </a:defRPr>
            </a:pPr>
            <a:r>
              <a:t>MANDATORY GATES (4-8 WEEKS)</a:t>
            </a:r>
          </a:p>
          <a:p>
            <a:pPr>
              <a:spcBef>
                <a:spcPts val="1200"/>
              </a:spcBef>
              <a:defRPr sz="950">
                <a:solidFill>
                  <a:srgbClr val="1E293B"/>
                </a:solidFill>
              </a:defRPr>
            </a:pPr>
            <a:r>
              <a:t>1. High Court &amp; CCTNS network integration. 2. CERT-In empanelled third-party VAPT cybersecurity audit. 3. Aadhaar eSign / digital signature token (DSC) integration. 4. Official APSDC cloud deployment and state data governance approval.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Development Roadmap &amp; Future Scalability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35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41732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2D4E"/>
                </a:solidFill>
              </a:defRPr>
            </a:pPr>
            <a:r>
              <a:t>Phase 1: Immediate (Weeks 1-2)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Activate Supabase PostgreSQL in staging, deploy Docker containers, configure Celery/Redis for bulk jobs, connect live Bhashini Telugu speech-to-text API.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6032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9748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2D4E"/>
                </a:solidFill>
              </a:defRPr>
            </a:pPr>
            <a:r>
              <a:t>Phase 2: Short-Term (Months 1-3)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Aadhaar eSign / eMudhra digital signatures for IOs, High Court CCTNS data interchange adapter, mobile tablet progressive web app (PWA) for field officers.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7764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2D4E"/>
                </a:solidFill>
              </a:defRPr>
            </a:pPr>
            <a:r>
              <a:t>Phase 3: Medium-Term (Months 3-6)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Automated vehicle number plate recognition (ANPR) camera feed integration, cross-state excise database linkage (Telangana, Karnataka, Tamil Nadu).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57800"/>
            <a:ext cx="102714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12D4E"/>
                </a:solidFill>
              </a:defRPr>
            </a:pPr>
            <a:r>
              <a:t>Phase 4: Long-Term (Year 1)</a:t>
            </a:r>
          </a:p>
          <a:p>
            <a:pPr>
              <a:spcBef>
                <a:spcPts val="400"/>
              </a:spcBef>
              <a:defRPr sz="950">
                <a:solidFill>
                  <a:srgbClr val="1E293B"/>
                </a:solidFill>
              </a:defRPr>
            </a:pPr>
            <a:r>
              <a:t>Statewide deployment across all 26 districts (10,000+ officers), AI-assisted predictive bootlegging hotspot detection, biometric witness verification.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DEFENSE SCRIPTS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Presentation Scripts: 60-Second &amp; 3-Minute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36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102714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132"/>
                </a:solidFill>
              </a:defRPr>
            </a:pPr>
            <a:r>
              <a:t>60-Second Elevator Pitch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"FIR Sahayak modernizes excise enforcement across 26 Andhra Pradesh districts. It replaces hours of manual paper drafting with tri-modal intake (Text, Telugu Voice, Photo OCR), eliminates AI hallucinations with 100% grounded RAG and physical page citations, automatically resolves BNS 2023 vs IPC charging rules, maps cross-district smuggling syndicates, and generates court-ready Case Diaries and Chargesheets. Fully verified with 29 passing tests and offline readiness."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114800"/>
            <a:ext cx="10271455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132"/>
                </a:solidFill>
              </a:defRPr>
            </a:pPr>
            <a:r>
              <a:t>3-Minute Executive Summary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"Every day, excise sub-inspectors seize illicit liquor and ganja, but face documentation delays, BNS transition errors, and siloed station files. FIR Sahayak delivers a unified platform: multi-format evidence ingestion with magic-byte security, strict Mode A PDF-only RAG with certified page citations, automated statutory section matching for the AP Excise Act, RapidFuzz syndicate detection, and tamper-evident SHA-256 audit chaining. Running live today with zero failures."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LEADERSHIP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10-Minute Technical Walkthrough Script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37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Part 1: Context &amp; Bottlenecks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In excise enforcement, evidentiary accuracy and legal rigor are paramount. Procedural errors during the July 1, 2024 BNS transition risk case dismissal. Station-level records fail to expose multi-district smugglers.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04288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Part 2: Tri-Modal Intake &amp; Proof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Officers can dictate seizure facts in Telugu, type narrative, or photograph a handwritten memo. The system extracts 12 fields into a draft form requiring mandatory human sign-off before case creation.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36976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10128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Part 3: Section 26 Grounded RAG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Chatbot operates in Mode A (PDF-only). Answers cite physical page numbers. Unrecorded facts strictly output certified negative phrases in English, Telugu, or Hindi. Zero cross-case leakage.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9664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6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Part 4: Dual-Storage Architecture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Runs offline on SQLite+FTS5 with local disk evidence storage; features production-ready Supabase PostgreSQL and private cloud storage adapters ready for immediate activation.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02352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75504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12D4E"/>
                </a:solidFill>
              </a:defRPr>
            </a:pPr>
            <a:r>
              <a:t>Part 5: Verification &amp; Governance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Every operation is hashed into a recursive SHA-256 audit chain. 29 automated tests pass with 100% success rate. The platform is ready for departmental pilot deployment.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DEFENSE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Top 15 Manager Interview Questions &amp;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38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Q: Is Supabase active right now?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A: Supabase adapters are fully coded and tested, but credentials are currently commented out in .env so the app runs offline on local SQLite+FTS5 and local storage.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304288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77440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Q: How do you prevent AI hallucinations?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A: Section 26 Mode A restricts retrieval strictly to the selected PDF via FTS5, mandates physical page citations, and returns certified missing phrases if facts are absent.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36976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10128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Q: How does the system handle the BNS 2023 transition?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A: It checks offence_date &lt; 2024-07-01 to apply IPC; on or after that date, it applies BNS 2023, while evaluating AP Excise Act Sections 34(a), 34(b), and 37A.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69664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42816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Q: How are evidence photos protected?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A: Files require authenticated JWT with role-based jurisdiction scoping. In cloud mode, signed URLs expire after 3600 seconds. Public access is disabled.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102352"/>
            <a:ext cx="10728655" cy="8595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75504"/>
            <a:ext cx="10362895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12D4E"/>
                </a:solidFill>
              </a:defRPr>
            </a:pPr>
            <a:r>
              <a:t>Q: What happens if the Gemini AI API goes down?</a:t>
            </a:r>
          </a:p>
          <a:p>
            <a:pPr>
              <a:spcBef>
                <a:spcPts val="200"/>
              </a:spcBef>
              <a:defRPr sz="900">
                <a:solidFill>
                  <a:srgbClr val="1E293B"/>
                </a:solidFill>
              </a:defRPr>
            </a:pPr>
            <a:r>
              <a:t>A: Deterministic local rule-based regex extraction and cached summaries take over, ensuring officers are never blocked from completing case entries.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1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50" b="1">
                <a:solidFill>
                  <a:srgbClr val="D4AF37"/>
                </a:solidFill>
              </a:defRPr>
            </a:pPr>
            <a:r>
              <a:t>GOVERNMENT OF ANDHRA PRADESH • PROHIBITION &amp; EXCISE DEPARTMENT  |  PROJECT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Conclusion, Live Access &amp; Project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4008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748B"/>
                </a:solidFill>
              </a:defRPr>
            </a:pPr>
            <a:r>
              <a:t>FIR Sahayak (u-FIR v2.0) — Technical Architecture &amp; Project Manager Review Dossier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6446520"/>
            <a:ext cx="32305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 b="1">
                <a:solidFill>
                  <a:srgbClr val="64748B"/>
                </a:solidFill>
              </a:defRPr>
            </a:pPr>
            <a:r>
              <a:t>Slide 39 of 39  |  Confidential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132"/>
                </a:solidFill>
              </a:defRPr>
            </a:pPr>
            <a:r>
              <a:t>Live Application Running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Frontend at http://localhost:5173 | Backend API at http://localhost:8000 | Swagger Docs at http://localhost:8000/docs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132"/>
                </a:solidFill>
              </a:defRPr>
            </a:pPr>
            <a:r>
              <a:t>Direct Download Endpoints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Word Report at http://localhost:8000/download/report | PowerPoint Deck at http://localhost:8000/download/presentation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132"/>
                </a:solidFill>
              </a:defRPr>
            </a:pPr>
            <a:r>
              <a:t>Local Filesystem Delivery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Desktop/FIR-Sahayak/docs/ contains both FIR_Sahayak_Complete_Project_Explanation.pptx and FIR_Sahayak_Complete_Technical_Report.docx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840480"/>
            <a:ext cx="521208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5132"/>
                </a:solidFill>
              </a:defRPr>
            </a:pPr>
            <a:r>
              <a:t>Source Control Status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All changes committed and pushed to https://github.com/doddasurendra/FIR_Sahayak.git on branch main.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